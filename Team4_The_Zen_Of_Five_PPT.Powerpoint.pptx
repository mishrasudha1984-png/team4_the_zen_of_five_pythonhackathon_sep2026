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Arial"/>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Arial"/>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Arial"/>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Arial"/>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Arial"/>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Arial"/>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Arial"/>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Arial"/>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Arial"/>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Arial"/>
      </a:defRPr>
    </a:lvl1pPr>
    <a:lvl2pPr indent="228600" latinLnBrk="0">
      <a:defRPr sz="1200">
        <a:latin typeface="+mj-lt"/>
        <a:ea typeface="+mj-ea"/>
        <a:cs typeface="+mj-cs"/>
        <a:sym typeface="Arial"/>
      </a:defRPr>
    </a:lvl2pPr>
    <a:lvl3pPr indent="457200" latinLnBrk="0">
      <a:defRPr sz="1200">
        <a:latin typeface="+mj-lt"/>
        <a:ea typeface="+mj-ea"/>
        <a:cs typeface="+mj-cs"/>
        <a:sym typeface="Arial"/>
      </a:defRPr>
    </a:lvl3pPr>
    <a:lvl4pPr indent="685800" latinLnBrk="0">
      <a:defRPr sz="1200">
        <a:latin typeface="+mj-lt"/>
        <a:ea typeface="+mj-ea"/>
        <a:cs typeface="+mj-cs"/>
        <a:sym typeface="Arial"/>
      </a:defRPr>
    </a:lvl4pPr>
    <a:lvl5pPr indent="914400" latinLnBrk="0">
      <a:defRPr sz="1200">
        <a:latin typeface="+mj-lt"/>
        <a:ea typeface="+mj-ea"/>
        <a:cs typeface="+mj-cs"/>
        <a:sym typeface="Arial"/>
      </a:defRPr>
    </a:lvl5pPr>
    <a:lvl6pPr indent="1143000" latinLnBrk="0">
      <a:defRPr sz="1200">
        <a:latin typeface="+mj-lt"/>
        <a:ea typeface="+mj-ea"/>
        <a:cs typeface="+mj-cs"/>
        <a:sym typeface="Arial"/>
      </a:defRPr>
    </a:lvl6pPr>
    <a:lvl7pPr indent="1371600" latinLnBrk="0">
      <a:defRPr sz="1200">
        <a:latin typeface="+mj-lt"/>
        <a:ea typeface="+mj-ea"/>
        <a:cs typeface="+mj-cs"/>
        <a:sym typeface="Arial"/>
      </a:defRPr>
    </a:lvl7pPr>
    <a:lvl8pPr indent="1600200" latinLnBrk="0">
      <a:defRPr sz="1200">
        <a:latin typeface="+mj-lt"/>
        <a:ea typeface="+mj-ea"/>
        <a:cs typeface="+mj-cs"/>
        <a:sym typeface="Arial"/>
      </a:defRPr>
    </a:lvl8pPr>
    <a:lvl9pPr indent="1828800" latinLnBrk="0">
      <a:defRPr sz="1200">
        <a:latin typeface="+mj-lt"/>
        <a:ea typeface="+mj-ea"/>
        <a:cs typeface="+mj-cs"/>
        <a:sym typeface="Arial"/>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9" name="Shape 49"/>
          <p:cNvSpPr/>
          <p:nvPr>
            <p:ph type="sldImg"/>
          </p:nvPr>
        </p:nvSpPr>
        <p:spPr>
          <a:prstGeom prst="rect">
            <a:avLst/>
          </a:prstGeom>
        </p:spPr>
        <p:txBody>
          <a:bodyPr/>
          <a:lstStyle/>
          <a:p>
            <a:pPr/>
          </a:p>
        </p:txBody>
      </p:sp>
      <p:sp>
        <p:nvSpPr>
          <p:cNvPr id="50" name="Shape 50"/>
          <p:cNvSpPr/>
          <p:nvPr>
            <p:ph type="body" sz="quarter" idx="1"/>
          </p:nvPr>
        </p:nvSpPr>
        <p:spPr>
          <a:prstGeom prst="rect">
            <a:avLst/>
          </a:prstGeom>
        </p:spPr>
        <p:txBody>
          <a:bodyPr/>
          <a:lstStyle/>
          <a:p>
            <a:pPr/>
            <a:r>
              <a:t>We are Team 4, The Zen of Five. Our theme: a hospital cannot follow up intensively with every heart-failure patient, so our work is about finding the right patients using descriptive, prescriptive and predictive analytics on 2,008 admissions.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4" name="Shape 134"/>
          <p:cNvSpPr/>
          <p:nvPr>
            <p:ph type="sldImg"/>
          </p:nvPr>
        </p:nvSpPr>
        <p:spPr>
          <a:prstGeom prst="rect">
            <a:avLst/>
          </a:prstGeom>
        </p:spPr>
        <p:txBody>
          <a:bodyPr/>
          <a:lstStyle/>
          <a:p>
            <a:pPr/>
          </a:p>
        </p:txBody>
      </p:sp>
      <p:sp>
        <p:nvSpPr>
          <p:cNvPr id="135" name="Shape 135"/>
          <p:cNvSpPr/>
          <p:nvPr>
            <p:ph type="body" sz="quarter" idx="1"/>
          </p:nvPr>
        </p:nvSpPr>
        <p:spPr>
          <a:prstGeom prst="rect">
            <a:avLst/>
          </a:prstGeom>
        </p:spPr>
        <p:txBody>
          <a:bodyPr/>
          <a:lstStyle/>
          <a:p>
            <a:pPr/>
            <a:r>
              <a:t>Cleaning was the first challenge. Five problems stand out: impossible values like a 0.35 metre adult height, logic conflicts such as deaths with no date, structural missingness that we kept because it carries clinical meaning, reshaping the prescription transactions into one row per patient, and merging seven tables safely. The diagram shows the result. Every table is keyed on the same admission ID, which is unique in each one, so the links are one-to-one, and we left-joined from demography into a master table of 2,008 rows and 200 columns. Prescriptions covers 2,007 patients because one patient has no prescription record.</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4" name="Shape 194"/>
          <p:cNvSpPr/>
          <p:nvPr>
            <p:ph type="sldImg"/>
          </p:nvPr>
        </p:nvSpPr>
        <p:spPr>
          <a:prstGeom prst="rect">
            <a:avLst/>
          </a:prstGeom>
        </p:spPr>
        <p:txBody>
          <a:bodyPr/>
          <a:lstStyle/>
          <a:p>
            <a:pPr/>
          </a:p>
        </p:txBody>
      </p:sp>
      <p:sp>
        <p:nvSpPr>
          <p:cNvPr id="195" name="Shape 195"/>
          <p:cNvSpPr/>
          <p:nvPr>
            <p:ph type="body" sz="quarter" idx="1"/>
          </p:nvPr>
        </p:nvSpPr>
        <p:spPr>
          <a:prstGeom prst="rect">
            <a:avLst/>
          </a:prstGeom>
        </p:spPr>
        <p:txBody>
          <a:bodyPr/>
          <a:lstStyle/>
          <a:p>
            <a:pPr/>
            <a:r>
              <a:t>One question, three lenses. Descriptive shows a sick, elderly cohort with readmission tripling from 28 days to 3 months. Prescriptive turns that into four actions, led by completing the 3-drug kit for weak hearts. Predictive shows a clean split: diagnoses and mortality are highly predictable from admission data, 80 to 99% AUC, while readmission and ED return stay near 65%, because that depends on post-discharge factors we do not capture. A new question this round, IV inotrope need, sits in between at 73% AUC.</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1" name="Shape 211"/>
          <p:cNvSpPr/>
          <p:nvPr>
            <p:ph type="sldImg"/>
          </p:nvPr>
        </p:nvSpPr>
        <p:spPr>
          <a:prstGeom prst="rect">
            <a:avLst/>
          </a:prstGeom>
        </p:spPr>
        <p:txBody>
          <a:bodyPr/>
          <a:lstStyle/>
          <a:p>
            <a:pPr/>
          </a:p>
        </p:txBody>
      </p:sp>
      <p:sp>
        <p:nvSpPr>
          <p:cNvPr id="212" name="Shape 212"/>
          <p:cNvSpPr/>
          <p:nvPr>
            <p:ph type="body" sz="quarter" idx="1"/>
          </p:nvPr>
        </p:nvSpPr>
        <p:spPr>
          <a:prstGeom prst="rect">
            <a:avLst/>
          </a:prstGeom>
        </p:spPr>
        <p:txBody>
          <a:bodyPr/>
          <a:lstStyle/>
          <a:p>
            <a:pPr/>
            <a:r>
              <a:t>This dashboard slide matters most, so we gave it the most space. It mirrors the four tabs of our actual Streamlit app, Descriptive, Prescriptive, Predictive and Summary, and every number on it comes straight from our three analysis notebooks. At the top is the link: once deployed to Streamlit Community Cloud we will drop the live URL in here; until then, run it locally with the command shown.</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9" name="Shape 239"/>
          <p:cNvSpPr/>
          <p:nvPr>
            <p:ph type="sldImg"/>
          </p:nvPr>
        </p:nvSpPr>
        <p:spPr>
          <a:prstGeom prst="rect">
            <a:avLst/>
          </a:prstGeom>
        </p:spPr>
        <p:txBody>
          <a:bodyPr/>
          <a:lstStyle/>
          <a:p>
            <a:pPr/>
          </a:p>
        </p:txBody>
      </p:sp>
      <p:sp>
        <p:nvSpPr>
          <p:cNvPr id="240" name="Shape 240"/>
          <p:cNvSpPr/>
          <p:nvPr>
            <p:ph type="body" sz="quarter" idx="1"/>
          </p:nvPr>
        </p:nvSpPr>
        <p:spPr>
          <a:prstGeom prst="rect">
            <a:avLst/>
          </a:prstGeom>
        </p:spPr>
        <p:txBody>
          <a:bodyPr/>
          <a:lstStyle/>
          <a:p>
            <a:pPr/>
            <a:r>
              <a:t>Five things to remember: this is a sick, elderly cohort with readmission that triples early on; treatment gaps are the quickest fix; we can predict diagnosis and death well but not readmission, because that needs data we do not have; target follow-up with a simple score rather than calling everyone; and stay honest about the limits, since these are associations from small event counts.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8" name="Shape 248"/>
          <p:cNvSpPr/>
          <p:nvPr>
            <p:ph type="sldImg"/>
          </p:nvPr>
        </p:nvSpPr>
        <p:spPr>
          <a:prstGeom prst="rect">
            <a:avLst/>
          </a:prstGeom>
        </p:spPr>
        <p:txBody>
          <a:bodyPr/>
          <a:lstStyle/>
          <a:p>
            <a:pPr/>
          </a:p>
        </p:txBody>
      </p:sp>
      <p:sp>
        <p:nvSpPr>
          <p:cNvPr id="249" name="Shape 249"/>
          <p:cNvSpPr/>
          <p:nvPr>
            <p:ph type="body" sz="quarter" idx="1"/>
          </p:nvPr>
        </p:nvSpPr>
        <p:spPr>
          <a:prstGeom prst="rect">
            <a:avLst/>
          </a:prstGeom>
        </p:spPr>
        <p:txBody>
          <a:bodyPr/>
          <a:lstStyle/>
          <a:p>
            <a:pPr/>
            <a:r>
              <a:t>Thank you. Our message stays the same: we do not need to follow up with everyone, we need to follow up with the right patients, and this analysis shows who they are. Happy to take questions.</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609600" y="92074"/>
            <a:ext cx="10972800" cy="1508126"/>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609600" y="1600200"/>
            <a:ext cx="10972800" cy="525780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5892800" y="6172200"/>
            <a:ext cx="2844800" cy="368301"/>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Arial"/>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Arial"/>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Arial"/>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Arial"/>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Arial"/>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Arial"/>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Arial"/>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Arial"/>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Arial"/>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Arial"/>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Arial"/>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Arial"/>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Arial"/>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Arial"/>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Arial"/>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Arial"/>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Arial"/>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Arial"/>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hyperlink" Target="http://localhost:8502/" TargetMode="External"/><Relationship Id="rId5" Type="http://schemas.openxmlformats.org/officeDocument/2006/relationships/image" Target="../media/image8.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24445E"/>
        </a:solidFill>
      </p:bgPr>
    </p:bg>
    <p:spTree>
      <p:nvGrpSpPr>
        <p:cNvPr id="1" name=""/>
        <p:cNvGrpSpPr/>
        <p:nvPr/>
      </p:nvGrpSpPr>
      <p:grpSpPr>
        <a:xfrm>
          <a:off x="0" y="0"/>
          <a:ext cx="0" cy="0"/>
          <a:chOff x="0" y="0"/>
          <a:chExt cx="0" cy="0"/>
        </a:xfrm>
      </p:grpSpPr>
      <p:sp>
        <p:nvSpPr>
          <p:cNvPr id="20" name="Shape 0"/>
          <p:cNvSpPr/>
          <p:nvPr/>
        </p:nvSpPr>
        <p:spPr>
          <a:xfrm>
            <a:off x="548640" y="548640"/>
            <a:ext cx="3123590" cy="274321"/>
          </a:xfrm>
          <a:prstGeom prst="roundRect">
            <a:avLst>
              <a:gd name="adj" fmla="val 50000"/>
            </a:avLst>
          </a:prstGeom>
          <a:solidFill>
            <a:srgbClr val="356A90"/>
          </a:solidFill>
          <a:ln w="12700">
            <a:miter lim="400000"/>
          </a:ln>
        </p:spPr>
        <p:txBody>
          <a:bodyPr lIns="45719" rIns="45719"/>
          <a:lstStyle/>
          <a:p>
            <a:pPr/>
          </a:p>
        </p:txBody>
      </p:sp>
      <p:sp>
        <p:nvSpPr>
          <p:cNvPr id="21" name="Text 1"/>
          <p:cNvSpPr txBox="1"/>
          <p:nvPr/>
        </p:nvSpPr>
        <p:spPr>
          <a:xfrm>
            <a:off x="548640" y="618027"/>
            <a:ext cx="3123590" cy="1355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pc="200" sz="1000">
                <a:solidFill>
                  <a:srgbClr val="FFFFFF"/>
                </a:solidFill>
              </a:defRPr>
            </a:lvl1pPr>
          </a:lstStyle>
          <a:p>
            <a:pPr/>
            <a:r>
              <a:t>PYTHON HACKATHON  |  SEP 2026</a:t>
            </a:r>
          </a:p>
        </p:txBody>
      </p:sp>
      <p:sp>
        <p:nvSpPr>
          <p:cNvPr id="22" name="Text 2"/>
          <p:cNvSpPr txBox="1"/>
          <p:nvPr/>
        </p:nvSpPr>
        <p:spPr>
          <a:xfrm>
            <a:off x="548640" y="1190127"/>
            <a:ext cx="5486401" cy="27150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400" sz="1900">
                <a:solidFill>
                  <a:srgbClr val="B9D6EA"/>
                </a:solidFill>
              </a:defRPr>
            </a:lvl1pPr>
          </a:lstStyle>
          <a:p>
            <a:pPr/>
            <a:r>
              <a:t>Team 4</a:t>
            </a:r>
          </a:p>
        </p:txBody>
      </p:sp>
      <p:sp>
        <p:nvSpPr>
          <p:cNvPr id="23" name="Text 3"/>
          <p:cNvSpPr txBox="1"/>
          <p:nvPr/>
        </p:nvSpPr>
        <p:spPr>
          <a:xfrm>
            <a:off x="548640" y="1656282"/>
            <a:ext cx="7680960" cy="80223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5600">
                <a:solidFill>
                  <a:srgbClr val="FFFFFF"/>
                </a:solidFill>
              </a:defRPr>
            </a:lvl1pPr>
          </a:lstStyle>
          <a:p>
            <a:pPr/>
            <a:r>
              <a:t>The Zen of Five</a:t>
            </a:r>
          </a:p>
        </p:txBody>
      </p:sp>
      <p:sp>
        <p:nvSpPr>
          <p:cNvPr id="24" name="Text 4"/>
          <p:cNvSpPr txBox="1"/>
          <p:nvPr/>
        </p:nvSpPr>
        <p:spPr>
          <a:xfrm>
            <a:off x="548640" y="2651760"/>
            <a:ext cx="7315201" cy="5259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D8E8F4"/>
                </a:solidFill>
              </a:defRPr>
            </a:lvl1pPr>
          </a:lstStyle>
          <a:p>
            <a:pPr/>
            <a:r>
              <a:t>Follow up with the right patients: heart-failure analytics on 2,008 admissions</a:t>
            </a:r>
          </a:p>
        </p:txBody>
      </p:sp>
      <p:sp>
        <p:nvSpPr>
          <p:cNvPr id="25" name="Shape 5"/>
          <p:cNvSpPr/>
          <p:nvPr/>
        </p:nvSpPr>
        <p:spPr>
          <a:xfrm>
            <a:off x="8732519" y="685799"/>
            <a:ext cx="3017521" cy="3017522"/>
          </a:xfrm>
          <a:prstGeom prst="ellipse">
            <a:avLst/>
          </a:prstGeom>
          <a:solidFill>
            <a:srgbClr val="2F5C7E"/>
          </a:solidFill>
          <a:ln w="12700">
            <a:miter lim="400000"/>
          </a:ln>
        </p:spPr>
        <p:txBody>
          <a:bodyPr lIns="45719" rIns="45719"/>
          <a:lstStyle/>
          <a:p>
            <a:pPr/>
          </a:p>
        </p:txBody>
      </p:sp>
      <p:sp>
        <p:nvSpPr>
          <p:cNvPr id="26" name="Shape 6"/>
          <p:cNvSpPr/>
          <p:nvPr/>
        </p:nvSpPr>
        <p:spPr>
          <a:xfrm>
            <a:off x="9006840" y="960119"/>
            <a:ext cx="2468881" cy="2468881"/>
          </a:xfrm>
          <a:prstGeom prst="ellipse">
            <a:avLst/>
          </a:prstGeom>
          <a:solidFill>
            <a:srgbClr val="356A90"/>
          </a:solidFill>
          <a:ln w="12700">
            <a:miter lim="400000"/>
          </a:ln>
        </p:spPr>
        <p:txBody>
          <a:bodyPr lIns="45719" rIns="45719"/>
          <a:lstStyle/>
          <a:p>
            <a:pPr/>
          </a:p>
        </p:txBody>
      </p:sp>
      <p:pic>
        <p:nvPicPr>
          <p:cNvPr id="27" name="Image 0" descr="Image 0"/>
          <p:cNvPicPr>
            <a:picLocks noChangeAspect="1"/>
          </p:cNvPicPr>
          <p:nvPr/>
        </p:nvPicPr>
        <p:blipFill>
          <a:blip r:embed="rId3">
            <a:extLst/>
          </a:blip>
          <a:stretch>
            <a:fillRect/>
          </a:stretch>
        </p:blipFill>
        <p:spPr>
          <a:xfrm>
            <a:off x="9418319" y="1371600"/>
            <a:ext cx="1645921" cy="1645921"/>
          </a:xfrm>
          <a:prstGeom prst="rect">
            <a:avLst/>
          </a:prstGeom>
          <a:ln w="12700">
            <a:miter lim="400000"/>
          </a:ln>
        </p:spPr>
      </p:pic>
      <p:sp>
        <p:nvSpPr>
          <p:cNvPr id="28" name="Text 7"/>
          <p:cNvSpPr txBox="1"/>
          <p:nvPr/>
        </p:nvSpPr>
        <p:spPr>
          <a:xfrm>
            <a:off x="548640" y="3858004"/>
            <a:ext cx="5486401" cy="14783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300" sz="1100">
                <a:solidFill>
                  <a:srgbClr val="B9D6EA"/>
                </a:solidFill>
              </a:defRPr>
            </a:lvl1pPr>
          </a:lstStyle>
          <a:p>
            <a:pPr/>
            <a:r>
              <a:t>OUR TEAM OF 5</a:t>
            </a:r>
          </a:p>
        </p:txBody>
      </p:sp>
      <p:sp>
        <p:nvSpPr>
          <p:cNvPr id="29" name="Shape 8"/>
          <p:cNvSpPr/>
          <p:nvPr/>
        </p:nvSpPr>
        <p:spPr>
          <a:xfrm>
            <a:off x="548640" y="4160520"/>
            <a:ext cx="2072030" cy="1828801"/>
          </a:xfrm>
          <a:prstGeom prst="roundRect">
            <a:avLst>
              <a:gd name="adj" fmla="val 5000"/>
            </a:avLst>
          </a:prstGeom>
          <a:solidFill>
            <a:srgbClr val="2F5C7E"/>
          </a:solidFill>
          <a:ln w="12700">
            <a:miter lim="400000"/>
          </a:ln>
        </p:spPr>
        <p:txBody>
          <a:bodyPr lIns="45719" rIns="45719"/>
          <a:lstStyle/>
          <a:p>
            <a:pPr/>
          </a:p>
        </p:txBody>
      </p:sp>
      <p:sp>
        <p:nvSpPr>
          <p:cNvPr id="30" name="Shape 9"/>
          <p:cNvSpPr/>
          <p:nvPr/>
        </p:nvSpPr>
        <p:spPr>
          <a:xfrm>
            <a:off x="749808" y="4361688"/>
            <a:ext cx="640081" cy="640081"/>
          </a:xfrm>
          <a:prstGeom prst="ellipse">
            <a:avLst/>
          </a:prstGeom>
          <a:solidFill>
            <a:srgbClr val="5B93BA"/>
          </a:solidFill>
          <a:ln w="12700">
            <a:miter lim="400000"/>
          </a:ln>
        </p:spPr>
        <p:txBody>
          <a:bodyPr lIns="45719" rIns="45719"/>
          <a:lstStyle/>
          <a:p>
            <a:pPr/>
          </a:p>
        </p:txBody>
      </p:sp>
      <p:sp>
        <p:nvSpPr>
          <p:cNvPr id="31" name="Text 10"/>
          <p:cNvSpPr txBox="1"/>
          <p:nvPr/>
        </p:nvSpPr>
        <p:spPr>
          <a:xfrm>
            <a:off x="749808" y="4521198"/>
            <a:ext cx="640081" cy="3210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200">
                <a:solidFill>
                  <a:srgbClr val="FFFFFF"/>
                </a:solidFill>
              </a:defRPr>
            </a:lvl1pPr>
          </a:lstStyle>
          <a:p>
            <a:pPr/>
            <a:r>
              <a:t>K</a:t>
            </a:r>
          </a:p>
        </p:txBody>
      </p:sp>
      <p:sp>
        <p:nvSpPr>
          <p:cNvPr id="32" name="Text 11"/>
          <p:cNvSpPr txBox="1"/>
          <p:nvPr/>
        </p:nvSpPr>
        <p:spPr>
          <a:xfrm>
            <a:off x="749807" y="5069099"/>
            <a:ext cx="1706272" cy="4505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FFFFFF"/>
                </a:solidFill>
              </a:defRPr>
            </a:lvl1pPr>
          </a:lstStyle>
          <a:p>
            <a:pPr/>
            <a:r>
              <a:t>Komalatha Deivasigamani</a:t>
            </a:r>
          </a:p>
        </p:txBody>
      </p:sp>
      <p:sp>
        <p:nvSpPr>
          <p:cNvPr id="33" name="Shape 13"/>
          <p:cNvSpPr/>
          <p:nvPr/>
        </p:nvSpPr>
        <p:spPr>
          <a:xfrm>
            <a:off x="2803549" y="4160520"/>
            <a:ext cx="2072031" cy="1828801"/>
          </a:xfrm>
          <a:prstGeom prst="roundRect">
            <a:avLst>
              <a:gd name="adj" fmla="val 5000"/>
            </a:avLst>
          </a:prstGeom>
          <a:solidFill>
            <a:srgbClr val="2F5C7E"/>
          </a:solidFill>
          <a:ln w="12700">
            <a:miter lim="400000"/>
          </a:ln>
        </p:spPr>
        <p:txBody>
          <a:bodyPr lIns="45719" rIns="45719"/>
          <a:lstStyle/>
          <a:p>
            <a:pPr/>
          </a:p>
        </p:txBody>
      </p:sp>
      <p:sp>
        <p:nvSpPr>
          <p:cNvPr id="34" name="Shape 14"/>
          <p:cNvSpPr/>
          <p:nvPr/>
        </p:nvSpPr>
        <p:spPr>
          <a:xfrm>
            <a:off x="3004717" y="4361688"/>
            <a:ext cx="640081" cy="640081"/>
          </a:xfrm>
          <a:prstGeom prst="ellipse">
            <a:avLst/>
          </a:prstGeom>
          <a:solidFill>
            <a:srgbClr val="5B93BA"/>
          </a:solidFill>
          <a:ln w="12700">
            <a:miter lim="400000"/>
          </a:ln>
        </p:spPr>
        <p:txBody>
          <a:bodyPr lIns="45719" rIns="45719"/>
          <a:lstStyle/>
          <a:p>
            <a:pPr/>
          </a:p>
        </p:txBody>
      </p:sp>
      <p:sp>
        <p:nvSpPr>
          <p:cNvPr id="35" name="Text 15"/>
          <p:cNvSpPr txBox="1"/>
          <p:nvPr/>
        </p:nvSpPr>
        <p:spPr>
          <a:xfrm>
            <a:off x="3004717" y="4521198"/>
            <a:ext cx="640081" cy="3210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200">
                <a:solidFill>
                  <a:srgbClr val="FFFFFF"/>
                </a:solidFill>
              </a:defRPr>
            </a:lvl1pPr>
          </a:lstStyle>
          <a:p>
            <a:pPr/>
            <a:r>
              <a:t>K</a:t>
            </a:r>
          </a:p>
        </p:txBody>
      </p:sp>
      <p:sp>
        <p:nvSpPr>
          <p:cNvPr id="36" name="Text 16"/>
          <p:cNvSpPr txBox="1"/>
          <p:nvPr/>
        </p:nvSpPr>
        <p:spPr>
          <a:xfrm>
            <a:off x="3004717" y="5069099"/>
            <a:ext cx="1706272" cy="4505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FFFFFF"/>
                </a:solidFill>
              </a:defRPr>
            </a:lvl1pPr>
          </a:lstStyle>
          <a:p>
            <a:pPr/>
            <a:r>
              <a:t>Kokila Suresh Thanukumar</a:t>
            </a:r>
          </a:p>
        </p:txBody>
      </p:sp>
      <p:sp>
        <p:nvSpPr>
          <p:cNvPr id="37" name="Shape 18"/>
          <p:cNvSpPr/>
          <p:nvPr/>
        </p:nvSpPr>
        <p:spPr>
          <a:xfrm>
            <a:off x="5058461" y="4160520"/>
            <a:ext cx="2072030" cy="1828801"/>
          </a:xfrm>
          <a:prstGeom prst="roundRect">
            <a:avLst>
              <a:gd name="adj" fmla="val 5000"/>
            </a:avLst>
          </a:prstGeom>
          <a:solidFill>
            <a:srgbClr val="2F5C7E"/>
          </a:solidFill>
          <a:ln w="12700">
            <a:miter lim="400000"/>
          </a:ln>
        </p:spPr>
        <p:txBody>
          <a:bodyPr lIns="45719" rIns="45719"/>
          <a:lstStyle/>
          <a:p>
            <a:pPr/>
          </a:p>
        </p:txBody>
      </p:sp>
      <p:sp>
        <p:nvSpPr>
          <p:cNvPr id="38" name="Shape 19"/>
          <p:cNvSpPr/>
          <p:nvPr/>
        </p:nvSpPr>
        <p:spPr>
          <a:xfrm>
            <a:off x="5259628" y="4361688"/>
            <a:ext cx="640081" cy="640081"/>
          </a:xfrm>
          <a:prstGeom prst="ellipse">
            <a:avLst/>
          </a:prstGeom>
          <a:solidFill>
            <a:srgbClr val="5B93BA"/>
          </a:solidFill>
          <a:ln w="12700">
            <a:miter lim="400000"/>
          </a:ln>
        </p:spPr>
        <p:txBody>
          <a:bodyPr lIns="45719" rIns="45719"/>
          <a:lstStyle/>
          <a:p>
            <a:pPr/>
          </a:p>
        </p:txBody>
      </p:sp>
      <p:sp>
        <p:nvSpPr>
          <p:cNvPr id="39" name="Text 20"/>
          <p:cNvSpPr txBox="1"/>
          <p:nvPr/>
        </p:nvSpPr>
        <p:spPr>
          <a:xfrm>
            <a:off x="5259628" y="4521198"/>
            <a:ext cx="640081" cy="3210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200">
                <a:solidFill>
                  <a:srgbClr val="FFFFFF"/>
                </a:solidFill>
              </a:defRPr>
            </a:lvl1pPr>
          </a:lstStyle>
          <a:p>
            <a:pPr/>
            <a:r>
              <a:t>P</a:t>
            </a:r>
          </a:p>
        </p:txBody>
      </p:sp>
      <p:sp>
        <p:nvSpPr>
          <p:cNvPr id="40" name="Text 21"/>
          <p:cNvSpPr txBox="1"/>
          <p:nvPr/>
        </p:nvSpPr>
        <p:spPr>
          <a:xfrm>
            <a:off x="5259628" y="5183399"/>
            <a:ext cx="1706272" cy="2219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FFFFFF"/>
                </a:solidFill>
              </a:defRPr>
            </a:lvl1pPr>
          </a:lstStyle>
          <a:p>
            <a:pPr/>
            <a:r>
              <a:t>Priyankha Kumar</a:t>
            </a:r>
          </a:p>
        </p:txBody>
      </p:sp>
      <p:sp>
        <p:nvSpPr>
          <p:cNvPr id="41" name="Shape 23"/>
          <p:cNvSpPr/>
          <p:nvPr/>
        </p:nvSpPr>
        <p:spPr>
          <a:xfrm>
            <a:off x="7313370" y="4160520"/>
            <a:ext cx="2072031" cy="1828801"/>
          </a:xfrm>
          <a:prstGeom prst="roundRect">
            <a:avLst>
              <a:gd name="adj" fmla="val 5000"/>
            </a:avLst>
          </a:prstGeom>
          <a:solidFill>
            <a:srgbClr val="2F5C7E"/>
          </a:solidFill>
          <a:ln w="12700">
            <a:miter lim="400000"/>
          </a:ln>
        </p:spPr>
        <p:txBody>
          <a:bodyPr lIns="45719" rIns="45719"/>
          <a:lstStyle/>
          <a:p>
            <a:pPr/>
          </a:p>
        </p:txBody>
      </p:sp>
      <p:sp>
        <p:nvSpPr>
          <p:cNvPr id="42" name="Shape 24"/>
          <p:cNvSpPr/>
          <p:nvPr/>
        </p:nvSpPr>
        <p:spPr>
          <a:xfrm>
            <a:off x="7514538" y="4361688"/>
            <a:ext cx="640082" cy="640081"/>
          </a:xfrm>
          <a:prstGeom prst="ellipse">
            <a:avLst/>
          </a:prstGeom>
          <a:solidFill>
            <a:srgbClr val="5B93BA"/>
          </a:solidFill>
          <a:ln w="12700">
            <a:miter lim="400000"/>
          </a:ln>
        </p:spPr>
        <p:txBody>
          <a:bodyPr lIns="45719" rIns="45719"/>
          <a:lstStyle/>
          <a:p>
            <a:pPr/>
          </a:p>
        </p:txBody>
      </p:sp>
      <p:sp>
        <p:nvSpPr>
          <p:cNvPr id="43" name="Text 25"/>
          <p:cNvSpPr txBox="1"/>
          <p:nvPr/>
        </p:nvSpPr>
        <p:spPr>
          <a:xfrm>
            <a:off x="7514538" y="4521198"/>
            <a:ext cx="640082" cy="3210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200">
                <a:solidFill>
                  <a:srgbClr val="FFFFFF"/>
                </a:solidFill>
              </a:defRPr>
            </a:lvl1pPr>
          </a:lstStyle>
          <a:p>
            <a:pPr/>
            <a:r>
              <a:t>P</a:t>
            </a:r>
          </a:p>
        </p:txBody>
      </p:sp>
      <p:sp>
        <p:nvSpPr>
          <p:cNvPr id="44" name="Text 26"/>
          <p:cNvSpPr txBox="1"/>
          <p:nvPr/>
        </p:nvSpPr>
        <p:spPr>
          <a:xfrm>
            <a:off x="7514538" y="5183399"/>
            <a:ext cx="1706272" cy="2219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FFFFFF"/>
                </a:solidFill>
              </a:defRPr>
            </a:lvl1pPr>
          </a:lstStyle>
          <a:p>
            <a:pPr/>
            <a:r>
              <a:t>Priya Annamalai</a:t>
            </a:r>
          </a:p>
        </p:txBody>
      </p:sp>
      <p:sp>
        <p:nvSpPr>
          <p:cNvPr id="45" name="Shape 28"/>
          <p:cNvSpPr/>
          <p:nvPr/>
        </p:nvSpPr>
        <p:spPr>
          <a:xfrm>
            <a:off x="9568281" y="4160520"/>
            <a:ext cx="2072031" cy="1828801"/>
          </a:xfrm>
          <a:prstGeom prst="roundRect">
            <a:avLst>
              <a:gd name="adj" fmla="val 5000"/>
            </a:avLst>
          </a:prstGeom>
          <a:solidFill>
            <a:srgbClr val="2F5C7E"/>
          </a:solidFill>
          <a:ln w="12700">
            <a:miter lim="400000"/>
          </a:ln>
        </p:spPr>
        <p:txBody>
          <a:bodyPr lIns="45719" rIns="45719"/>
          <a:lstStyle/>
          <a:p>
            <a:pPr/>
          </a:p>
        </p:txBody>
      </p:sp>
      <p:sp>
        <p:nvSpPr>
          <p:cNvPr id="46" name="Shape 29"/>
          <p:cNvSpPr/>
          <p:nvPr/>
        </p:nvSpPr>
        <p:spPr>
          <a:xfrm>
            <a:off x="9769450" y="4361688"/>
            <a:ext cx="640081" cy="640081"/>
          </a:xfrm>
          <a:prstGeom prst="ellipse">
            <a:avLst/>
          </a:prstGeom>
          <a:solidFill>
            <a:srgbClr val="5B93BA"/>
          </a:solidFill>
          <a:ln w="12700">
            <a:miter lim="400000"/>
          </a:ln>
        </p:spPr>
        <p:txBody>
          <a:bodyPr lIns="45719" rIns="45719"/>
          <a:lstStyle/>
          <a:p>
            <a:pPr/>
          </a:p>
        </p:txBody>
      </p:sp>
      <p:sp>
        <p:nvSpPr>
          <p:cNvPr id="47" name="Text 30"/>
          <p:cNvSpPr txBox="1"/>
          <p:nvPr/>
        </p:nvSpPr>
        <p:spPr>
          <a:xfrm>
            <a:off x="9769450" y="4521198"/>
            <a:ext cx="640081" cy="3210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200">
                <a:solidFill>
                  <a:srgbClr val="FFFFFF"/>
                </a:solidFill>
              </a:defRPr>
            </a:lvl1pPr>
          </a:lstStyle>
          <a:p>
            <a:pPr/>
            <a:r>
              <a:t>S</a:t>
            </a:r>
          </a:p>
        </p:txBody>
      </p:sp>
      <p:sp>
        <p:nvSpPr>
          <p:cNvPr id="48" name="Text 31"/>
          <p:cNvSpPr txBox="1"/>
          <p:nvPr/>
        </p:nvSpPr>
        <p:spPr>
          <a:xfrm>
            <a:off x="9769450" y="5183399"/>
            <a:ext cx="1706271" cy="2219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FFFFFF"/>
                </a:solidFill>
              </a:defRPr>
            </a:lvl1pPr>
          </a:lstStyle>
          <a:p>
            <a:pPr/>
            <a:r>
              <a:t>Sudha Dubey</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2" name="Shape 0"/>
          <p:cNvSpPr/>
          <p:nvPr/>
        </p:nvSpPr>
        <p:spPr>
          <a:xfrm>
            <a:off x="548640" y="365759"/>
            <a:ext cx="746151" cy="274321"/>
          </a:xfrm>
          <a:prstGeom prst="roundRect">
            <a:avLst>
              <a:gd name="adj" fmla="val 50000"/>
            </a:avLst>
          </a:prstGeom>
          <a:solidFill>
            <a:srgbClr val="356A90"/>
          </a:solidFill>
          <a:ln w="12700">
            <a:miter lim="400000"/>
          </a:ln>
        </p:spPr>
        <p:txBody>
          <a:bodyPr lIns="45719" rIns="45719"/>
          <a:lstStyle/>
          <a:p>
            <a:pPr/>
          </a:p>
        </p:txBody>
      </p:sp>
      <p:sp>
        <p:nvSpPr>
          <p:cNvPr id="53" name="Text 1"/>
          <p:cNvSpPr txBox="1"/>
          <p:nvPr/>
        </p:nvSpPr>
        <p:spPr>
          <a:xfrm>
            <a:off x="548640" y="435147"/>
            <a:ext cx="746151" cy="1355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pc="200" sz="1000">
                <a:solidFill>
                  <a:srgbClr val="FFFFFF"/>
                </a:solidFill>
              </a:defRPr>
            </a:lvl1pPr>
          </a:lstStyle>
          <a:p>
            <a:pPr/>
            <a:r>
              <a:t>DATA</a:t>
            </a:r>
          </a:p>
        </p:txBody>
      </p:sp>
      <p:sp>
        <p:nvSpPr>
          <p:cNvPr id="54" name="Text 2"/>
          <p:cNvSpPr txBox="1"/>
          <p:nvPr/>
        </p:nvSpPr>
        <p:spPr>
          <a:xfrm>
            <a:off x="548639" y="731519"/>
            <a:ext cx="11094417" cy="40705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900">
                <a:solidFill>
                  <a:srgbClr val="24445E"/>
                </a:solidFill>
              </a:defRPr>
            </a:lvl1pPr>
          </a:lstStyle>
          <a:p>
            <a:pPr/>
            <a:r>
              <a:t>Data cleaning: five challenges, one master table</a:t>
            </a:r>
          </a:p>
        </p:txBody>
      </p:sp>
      <p:sp>
        <p:nvSpPr>
          <p:cNvPr id="55" name="Text 3"/>
          <p:cNvSpPr txBox="1"/>
          <p:nvPr/>
        </p:nvSpPr>
        <p:spPr>
          <a:xfrm>
            <a:off x="548640" y="6524752"/>
            <a:ext cx="64008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666666"/>
                </a:solidFill>
              </a:defRPr>
            </a:lvl1pPr>
          </a:lstStyle>
          <a:p>
            <a:pPr/>
            <a:r>
              <a:t>Team 4  |  The Zen of Five  </a:t>
            </a:r>
          </a:p>
        </p:txBody>
      </p:sp>
      <p:sp>
        <p:nvSpPr>
          <p:cNvPr id="56" name="Text 4"/>
          <p:cNvSpPr txBox="1"/>
          <p:nvPr/>
        </p:nvSpPr>
        <p:spPr>
          <a:xfrm>
            <a:off x="11094415" y="6524752"/>
            <a:ext cx="54864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900">
                <a:solidFill>
                  <a:srgbClr val="666666"/>
                </a:solidFill>
              </a:defRPr>
            </a:lvl1pPr>
          </a:lstStyle>
          <a:p>
            <a:pPr/>
            <a:r>
              <a:t>2</a:t>
            </a:r>
          </a:p>
        </p:txBody>
      </p:sp>
      <p:sp>
        <p:nvSpPr>
          <p:cNvPr id="57" name="Text 5"/>
          <p:cNvSpPr txBox="1"/>
          <p:nvPr/>
        </p:nvSpPr>
        <p:spPr>
          <a:xfrm>
            <a:off x="548640" y="1727106"/>
            <a:ext cx="3383280" cy="1851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300">
                <a:solidFill>
                  <a:srgbClr val="2F5C7E"/>
                </a:solidFill>
              </a:defRPr>
            </a:lvl1pPr>
          </a:lstStyle>
          <a:p>
            <a:pPr/>
            <a:r>
              <a:t>Cleaning challenges</a:t>
            </a:r>
          </a:p>
        </p:txBody>
      </p:sp>
      <p:sp>
        <p:nvSpPr>
          <p:cNvPr id="58" name="Shape 6"/>
          <p:cNvSpPr/>
          <p:nvPr/>
        </p:nvSpPr>
        <p:spPr>
          <a:xfrm>
            <a:off x="548640" y="2011679"/>
            <a:ext cx="3383280" cy="786385"/>
          </a:xfrm>
          <a:prstGeom prst="roundRect">
            <a:avLst>
              <a:gd name="adj" fmla="val 11628"/>
            </a:avLst>
          </a:prstGeom>
          <a:solidFill>
            <a:srgbClr val="EBF3F9"/>
          </a:solidFill>
          <a:ln w="12700">
            <a:miter lim="400000"/>
          </a:ln>
        </p:spPr>
        <p:txBody>
          <a:bodyPr lIns="45719" rIns="45719"/>
          <a:lstStyle/>
          <a:p>
            <a:pPr/>
          </a:p>
        </p:txBody>
      </p:sp>
      <p:sp>
        <p:nvSpPr>
          <p:cNvPr id="59" name="Shape 7"/>
          <p:cNvSpPr/>
          <p:nvPr/>
        </p:nvSpPr>
        <p:spPr>
          <a:xfrm>
            <a:off x="676655" y="2167127"/>
            <a:ext cx="475490" cy="475490"/>
          </a:xfrm>
          <a:prstGeom prst="ellipse">
            <a:avLst/>
          </a:prstGeom>
          <a:solidFill>
            <a:srgbClr val="356A90"/>
          </a:solidFill>
          <a:ln w="12700">
            <a:miter lim="400000"/>
          </a:ln>
        </p:spPr>
        <p:txBody>
          <a:bodyPr lIns="45719" rIns="45719"/>
          <a:lstStyle/>
          <a:p>
            <a:pPr/>
          </a:p>
        </p:txBody>
      </p:sp>
      <p:pic>
        <p:nvPicPr>
          <p:cNvPr id="60" name="Image 0" descr="Image 0"/>
          <p:cNvPicPr>
            <a:picLocks noChangeAspect="1"/>
          </p:cNvPicPr>
          <p:nvPr/>
        </p:nvPicPr>
        <p:blipFill>
          <a:blip r:embed="rId3">
            <a:extLst/>
          </a:blip>
          <a:stretch>
            <a:fillRect/>
          </a:stretch>
        </p:blipFill>
        <p:spPr>
          <a:xfrm>
            <a:off x="790773" y="2281245"/>
            <a:ext cx="247254" cy="247255"/>
          </a:xfrm>
          <a:prstGeom prst="rect">
            <a:avLst/>
          </a:prstGeom>
          <a:ln w="12700">
            <a:miter lim="400000"/>
          </a:ln>
        </p:spPr>
      </p:pic>
      <p:sp>
        <p:nvSpPr>
          <p:cNvPr id="61" name="Text 8"/>
          <p:cNvSpPr txBox="1"/>
          <p:nvPr/>
        </p:nvSpPr>
        <p:spPr>
          <a:xfrm>
            <a:off x="1298447" y="2111501"/>
            <a:ext cx="2560322"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100">
                <a:solidFill>
                  <a:srgbClr val="2F5C7E"/>
                </a:solidFill>
              </a:defRPr>
            </a:lvl1pPr>
          </a:lstStyle>
          <a:p>
            <a:pPr/>
            <a:r>
              <a:t>Impossible values</a:t>
            </a:r>
          </a:p>
        </p:txBody>
      </p:sp>
      <p:sp>
        <p:nvSpPr>
          <p:cNvPr id="62" name="Text 9"/>
          <p:cNvSpPr txBox="1"/>
          <p:nvPr/>
        </p:nvSpPr>
        <p:spPr>
          <a:xfrm>
            <a:off x="1298447" y="2313432"/>
            <a:ext cx="2560322" cy="27524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1B3345"/>
                </a:solidFill>
              </a:defRPr>
            </a:lvl1pPr>
          </a:lstStyle>
          <a:p>
            <a:pPr/>
            <a:r>
              <a:t>Heights under 1 m, weights under 10 kg and negative labs were set to missing.</a:t>
            </a:r>
          </a:p>
        </p:txBody>
      </p:sp>
      <p:sp>
        <p:nvSpPr>
          <p:cNvPr id="63" name="Shape 10"/>
          <p:cNvSpPr/>
          <p:nvPr/>
        </p:nvSpPr>
        <p:spPr>
          <a:xfrm>
            <a:off x="548640" y="2871216"/>
            <a:ext cx="3383280" cy="786384"/>
          </a:xfrm>
          <a:prstGeom prst="roundRect">
            <a:avLst>
              <a:gd name="adj" fmla="val 11628"/>
            </a:avLst>
          </a:prstGeom>
          <a:solidFill>
            <a:srgbClr val="EBF3F9"/>
          </a:solidFill>
          <a:ln w="12700">
            <a:miter lim="400000"/>
          </a:ln>
        </p:spPr>
        <p:txBody>
          <a:bodyPr lIns="45719" rIns="45719"/>
          <a:lstStyle/>
          <a:p>
            <a:pPr/>
          </a:p>
        </p:txBody>
      </p:sp>
      <p:sp>
        <p:nvSpPr>
          <p:cNvPr id="64" name="Shape 11"/>
          <p:cNvSpPr/>
          <p:nvPr/>
        </p:nvSpPr>
        <p:spPr>
          <a:xfrm>
            <a:off x="676655" y="3026664"/>
            <a:ext cx="475490" cy="475489"/>
          </a:xfrm>
          <a:prstGeom prst="ellipse">
            <a:avLst/>
          </a:prstGeom>
          <a:solidFill>
            <a:srgbClr val="356A90"/>
          </a:solidFill>
          <a:ln w="12700">
            <a:miter lim="400000"/>
          </a:ln>
        </p:spPr>
        <p:txBody>
          <a:bodyPr lIns="45719" rIns="45719"/>
          <a:lstStyle/>
          <a:p>
            <a:pPr/>
          </a:p>
        </p:txBody>
      </p:sp>
      <p:pic>
        <p:nvPicPr>
          <p:cNvPr id="65" name="Image 1" descr="Image 1"/>
          <p:cNvPicPr>
            <a:picLocks noChangeAspect="1"/>
          </p:cNvPicPr>
          <p:nvPr/>
        </p:nvPicPr>
        <p:blipFill>
          <a:blip r:embed="rId4">
            <a:extLst/>
          </a:blip>
          <a:stretch>
            <a:fillRect/>
          </a:stretch>
        </p:blipFill>
        <p:spPr>
          <a:xfrm>
            <a:off x="790773" y="3140780"/>
            <a:ext cx="247254" cy="247255"/>
          </a:xfrm>
          <a:prstGeom prst="rect">
            <a:avLst/>
          </a:prstGeom>
          <a:ln w="12700">
            <a:miter lim="400000"/>
          </a:ln>
        </p:spPr>
      </p:pic>
      <p:sp>
        <p:nvSpPr>
          <p:cNvPr id="66" name="Text 12"/>
          <p:cNvSpPr txBox="1"/>
          <p:nvPr/>
        </p:nvSpPr>
        <p:spPr>
          <a:xfrm>
            <a:off x="1298447" y="2971037"/>
            <a:ext cx="2560322"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100">
                <a:solidFill>
                  <a:srgbClr val="2F5C7E"/>
                </a:solidFill>
              </a:defRPr>
            </a:lvl1pPr>
          </a:lstStyle>
          <a:p>
            <a:pPr/>
            <a:r>
              <a:t>Logic conflicts</a:t>
            </a:r>
          </a:p>
        </p:txBody>
      </p:sp>
      <p:sp>
        <p:nvSpPr>
          <p:cNvPr id="67" name="Text 13"/>
          <p:cNvSpPr txBox="1"/>
          <p:nvPr/>
        </p:nvSpPr>
        <p:spPr>
          <a:xfrm>
            <a:off x="1298447" y="3172967"/>
            <a:ext cx="2560322" cy="27524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1B3345"/>
                </a:solidFill>
              </a:defRPr>
            </a:lvl1pPr>
          </a:lstStyle>
          <a:p>
            <a:pPr/>
            <a:r>
              <a:t>16 deaths and 7 ED returns with no date; 136 heart-failure type conflicts flagged.</a:t>
            </a:r>
          </a:p>
        </p:txBody>
      </p:sp>
      <p:sp>
        <p:nvSpPr>
          <p:cNvPr id="68" name="Shape 14"/>
          <p:cNvSpPr/>
          <p:nvPr/>
        </p:nvSpPr>
        <p:spPr>
          <a:xfrm>
            <a:off x="548640" y="3730752"/>
            <a:ext cx="3383280" cy="786385"/>
          </a:xfrm>
          <a:prstGeom prst="roundRect">
            <a:avLst>
              <a:gd name="adj" fmla="val 11628"/>
            </a:avLst>
          </a:prstGeom>
          <a:solidFill>
            <a:srgbClr val="EBF3F9"/>
          </a:solidFill>
          <a:ln w="12700">
            <a:miter lim="400000"/>
          </a:ln>
        </p:spPr>
        <p:txBody>
          <a:bodyPr lIns="45719" rIns="45719"/>
          <a:lstStyle/>
          <a:p>
            <a:pPr/>
          </a:p>
        </p:txBody>
      </p:sp>
      <p:sp>
        <p:nvSpPr>
          <p:cNvPr id="69" name="Shape 15"/>
          <p:cNvSpPr/>
          <p:nvPr/>
        </p:nvSpPr>
        <p:spPr>
          <a:xfrm>
            <a:off x="676655" y="3886200"/>
            <a:ext cx="475490" cy="475489"/>
          </a:xfrm>
          <a:prstGeom prst="ellipse">
            <a:avLst/>
          </a:prstGeom>
          <a:solidFill>
            <a:srgbClr val="356A90"/>
          </a:solidFill>
          <a:ln w="12700">
            <a:miter lim="400000"/>
          </a:ln>
        </p:spPr>
        <p:txBody>
          <a:bodyPr lIns="45719" rIns="45719"/>
          <a:lstStyle/>
          <a:p>
            <a:pPr/>
          </a:p>
        </p:txBody>
      </p:sp>
      <p:pic>
        <p:nvPicPr>
          <p:cNvPr id="70" name="Image 2" descr="Image 2"/>
          <p:cNvPicPr>
            <a:picLocks noChangeAspect="1"/>
          </p:cNvPicPr>
          <p:nvPr/>
        </p:nvPicPr>
        <p:blipFill>
          <a:blip r:embed="rId5">
            <a:extLst/>
          </a:blip>
          <a:stretch>
            <a:fillRect/>
          </a:stretch>
        </p:blipFill>
        <p:spPr>
          <a:xfrm>
            <a:off x="790773" y="4000317"/>
            <a:ext cx="247254" cy="247255"/>
          </a:xfrm>
          <a:prstGeom prst="rect">
            <a:avLst/>
          </a:prstGeom>
          <a:ln w="12700">
            <a:miter lim="400000"/>
          </a:ln>
        </p:spPr>
      </p:pic>
      <p:sp>
        <p:nvSpPr>
          <p:cNvPr id="71" name="Text 16"/>
          <p:cNvSpPr txBox="1"/>
          <p:nvPr/>
        </p:nvSpPr>
        <p:spPr>
          <a:xfrm>
            <a:off x="1298447" y="3830572"/>
            <a:ext cx="2560322" cy="14783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100">
                <a:solidFill>
                  <a:srgbClr val="2F5C7E"/>
                </a:solidFill>
              </a:defRPr>
            </a:lvl1pPr>
          </a:lstStyle>
          <a:p>
            <a:pPr/>
            <a:r>
              <a:t>Structural missingness</a:t>
            </a:r>
          </a:p>
        </p:txBody>
      </p:sp>
      <p:sp>
        <p:nvSpPr>
          <p:cNvPr id="72" name="Text 17"/>
          <p:cNvSpPr txBox="1"/>
          <p:nvPr/>
        </p:nvSpPr>
        <p:spPr>
          <a:xfrm>
            <a:off x="1298447" y="4032503"/>
            <a:ext cx="2560322" cy="27524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1B3345"/>
                </a:solidFill>
              </a:defRPr>
            </a:lvl1pPr>
          </a:lstStyle>
          <a:p>
            <a:pPr/>
            <a:r>
              <a:t>Respiratory support is 98% empty and cholinesterase 100% missing: kept.</a:t>
            </a:r>
          </a:p>
        </p:txBody>
      </p:sp>
      <p:sp>
        <p:nvSpPr>
          <p:cNvPr id="73" name="Shape 18"/>
          <p:cNvSpPr/>
          <p:nvPr/>
        </p:nvSpPr>
        <p:spPr>
          <a:xfrm>
            <a:off x="548640" y="4590288"/>
            <a:ext cx="3383280" cy="786385"/>
          </a:xfrm>
          <a:prstGeom prst="roundRect">
            <a:avLst>
              <a:gd name="adj" fmla="val 11628"/>
            </a:avLst>
          </a:prstGeom>
          <a:solidFill>
            <a:srgbClr val="EBF3F9"/>
          </a:solidFill>
          <a:ln w="12700">
            <a:miter lim="400000"/>
          </a:ln>
        </p:spPr>
        <p:txBody>
          <a:bodyPr lIns="45719" rIns="45719"/>
          <a:lstStyle/>
          <a:p>
            <a:pPr/>
          </a:p>
        </p:txBody>
      </p:sp>
      <p:sp>
        <p:nvSpPr>
          <p:cNvPr id="74" name="Shape 19"/>
          <p:cNvSpPr/>
          <p:nvPr/>
        </p:nvSpPr>
        <p:spPr>
          <a:xfrm>
            <a:off x="676655" y="4745735"/>
            <a:ext cx="475490" cy="475489"/>
          </a:xfrm>
          <a:prstGeom prst="ellipse">
            <a:avLst/>
          </a:prstGeom>
          <a:solidFill>
            <a:srgbClr val="356A90"/>
          </a:solidFill>
          <a:ln w="12700">
            <a:miter lim="400000"/>
          </a:ln>
        </p:spPr>
        <p:txBody>
          <a:bodyPr lIns="45719" rIns="45719"/>
          <a:lstStyle/>
          <a:p>
            <a:pPr/>
          </a:p>
        </p:txBody>
      </p:sp>
      <p:pic>
        <p:nvPicPr>
          <p:cNvPr id="75" name="Image 3" descr="Image 3"/>
          <p:cNvPicPr>
            <a:picLocks noChangeAspect="1"/>
          </p:cNvPicPr>
          <p:nvPr/>
        </p:nvPicPr>
        <p:blipFill>
          <a:blip r:embed="rId6">
            <a:extLst/>
          </a:blip>
          <a:stretch>
            <a:fillRect/>
          </a:stretch>
        </p:blipFill>
        <p:spPr>
          <a:xfrm>
            <a:off x="790773" y="4859852"/>
            <a:ext cx="247254" cy="247255"/>
          </a:xfrm>
          <a:prstGeom prst="rect">
            <a:avLst/>
          </a:prstGeom>
          <a:ln w="12700">
            <a:miter lim="400000"/>
          </a:ln>
        </p:spPr>
      </p:pic>
      <p:sp>
        <p:nvSpPr>
          <p:cNvPr id="76" name="Text 20"/>
          <p:cNvSpPr txBox="1"/>
          <p:nvPr/>
        </p:nvSpPr>
        <p:spPr>
          <a:xfrm>
            <a:off x="1298447" y="4690109"/>
            <a:ext cx="2560322"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100">
                <a:solidFill>
                  <a:srgbClr val="2F5C7E"/>
                </a:solidFill>
              </a:defRPr>
            </a:lvl1pPr>
          </a:lstStyle>
          <a:p>
            <a:pPr/>
            <a:r>
              <a:t>Reshaping prescriptions</a:t>
            </a:r>
          </a:p>
        </p:txBody>
      </p:sp>
      <p:sp>
        <p:nvSpPr>
          <p:cNvPr id="77" name="Text 21"/>
          <p:cNvSpPr txBox="1"/>
          <p:nvPr/>
        </p:nvSpPr>
        <p:spPr>
          <a:xfrm>
            <a:off x="1298447" y="4892040"/>
            <a:ext cx="2560322" cy="27524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1B3345"/>
                </a:solidFill>
              </a:defRPr>
            </a:lvl1pPr>
          </a:lstStyle>
          <a:p>
            <a:pPr/>
            <a:r>
              <a:t>Long transaction rows became 25 drug flags plus a count per patient.</a:t>
            </a:r>
          </a:p>
        </p:txBody>
      </p:sp>
      <p:sp>
        <p:nvSpPr>
          <p:cNvPr id="78" name="Shape 22"/>
          <p:cNvSpPr/>
          <p:nvPr/>
        </p:nvSpPr>
        <p:spPr>
          <a:xfrm>
            <a:off x="548640" y="5449823"/>
            <a:ext cx="3383280" cy="786385"/>
          </a:xfrm>
          <a:prstGeom prst="roundRect">
            <a:avLst>
              <a:gd name="adj" fmla="val 11628"/>
            </a:avLst>
          </a:prstGeom>
          <a:solidFill>
            <a:srgbClr val="EBF3F9"/>
          </a:solidFill>
          <a:ln w="12700">
            <a:miter lim="400000"/>
          </a:ln>
        </p:spPr>
        <p:txBody>
          <a:bodyPr lIns="45719" rIns="45719"/>
          <a:lstStyle/>
          <a:p>
            <a:pPr/>
          </a:p>
        </p:txBody>
      </p:sp>
      <p:sp>
        <p:nvSpPr>
          <p:cNvPr id="79" name="Shape 23"/>
          <p:cNvSpPr/>
          <p:nvPr/>
        </p:nvSpPr>
        <p:spPr>
          <a:xfrm>
            <a:off x="676655" y="5605271"/>
            <a:ext cx="475490" cy="475489"/>
          </a:xfrm>
          <a:prstGeom prst="ellipse">
            <a:avLst/>
          </a:prstGeom>
          <a:solidFill>
            <a:srgbClr val="356A90"/>
          </a:solidFill>
          <a:ln w="12700">
            <a:miter lim="400000"/>
          </a:ln>
        </p:spPr>
        <p:txBody>
          <a:bodyPr lIns="45719" rIns="45719"/>
          <a:lstStyle/>
          <a:p>
            <a:pPr/>
          </a:p>
        </p:txBody>
      </p:sp>
      <p:pic>
        <p:nvPicPr>
          <p:cNvPr id="80" name="Image 4" descr="Image 4"/>
          <p:cNvPicPr>
            <a:picLocks noChangeAspect="1"/>
          </p:cNvPicPr>
          <p:nvPr/>
        </p:nvPicPr>
        <p:blipFill>
          <a:blip r:embed="rId7">
            <a:extLst/>
          </a:blip>
          <a:stretch>
            <a:fillRect/>
          </a:stretch>
        </p:blipFill>
        <p:spPr>
          <a:xfrm>
            <a:off x="790773" y="5719388"/>
            <a:ext cx="247254" cy="247255"/>
          </a:xfrm>
          <a:prstGeom prst="rect">
            <a:avLst/>
          </a:prstGeom>
          <a:ln w="12700">
            <a:miter lim="400000"/>
          </a:ln>
        </p:spPr>
      </p:pic>
      <p:sp>
        <p:nvSpPr>
          <p:cNvPr id="81" name="Text 24"/>
          <p:cNvSpPr txBox="1"/>
          <p:nvPr/>
        </p:nvSpPr>
        <p:spPr>
          <a:xfrm>
            <a:off x="1298447" y="5549644"/>
            <a:ext cx="2560322" cy="14783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100">
                <a:solidFill>
                  <a:srgbClr val="2F5C7E"/>
                </a:solidFill>
              </a:defRPr>
            </a:lvl1pPr>
          </a:lstStyle>
          <a:p>
            <a:pPr/>
            <a:r>
              <a:t>Merging 7 tables</a:t>
            </a:r>
          </a:p>
        </p:txBody>
      </p:sp>
      <p:sp>
        <p:nvSpPr>
          <p:cNvPr id="82" name="Text 25"/>
          <p:cNvSpPr txBox="1"/>
          <p:nvPr/>
        </p:nvSpPr>
        <p:spPr>
          <a:xfrm>
            <a:off x="1298447" y="5751576"/>
            <a:ext cx="2560322" cy="27524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1B3345"/>
                </a:solidFill>
              </a:defRPr>
            </a:lvl1pPr>
          </a:lstStyle>
          <a:p>
            <a:pPr/>
            <a:r>
              <a:t>One patient ID across all tables; left join checked to 2,008 x 200.</a:t>
            </a:r>
          </a:p>
        </p:txBody>
      </p:sp>
      <p:sp>
        <p:nvSpPr>
          <p:cNvPr id="83" name="Text 26"/>
          <p:cNvSpPr txBox="1"/>
          <p:nvPr/>
        </p:nvSpPr>
        <p:spPr>
          <a:xfrm>
            <a:off x="4114800" y="1727106"/>
            <a:ext cx="5486400" cy="1851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300">
                <a:solidFill>
                  <a:srgbClr val="2F5C7E"/>
                </a:solidFill>
              </a:defRPr>
            </a:lvl1pPr>
          </a:lstStyle>
          <a:p>
            <a:pPr/>
            <a:r>
              <a:t>Entity relationship diagram</a:t>
            </a:r>
          </a:p>
        </p:txBody>
      </p:sp>
      <p:sp>
        <p:nvSpPr>
          <p:cNvPr id="84" name="Shape 27"/>
          <p:cNvSpPr/>
          <p:nvPr/>
        </p:nvSpPr>
        <p:spPr>
          <a:xfrm>
            <a:off x="4114800" y="2011679"/>
            <a:ext cx="1801368" cy="283465"/>
          </a:xfrm>
          <a:prstGeom prst="rect">
            <a:avLst/>
          </a:prstGeom>
          <a:solidFill>
            <a:srgbClr val="2F5C7E"/>
          </a:solidFill>
          <a:ln w="12700">
            <a:miter lim="400000"/>
          </a:ln>
        </p:spPr>
        <p:txBody>
          <a:bodyPr lIns="45719" rIns="45719"/>
          <a:lstStyle/>
          <a:p>
            <a:pPr/>
          </a:p>
        </p:txBody>
      </p:sp>
      <p:sp>
        <p:nvSpPr>
          <p:cNvPr id="85" name="Text 28"/>
          <p:cNvSpPr txBox="1"/>
          <p:nvPr/>
        </p:nvSpPr>
        <p:spPr>
          <a:xfrm>
            <a:off x="4114800" y="2085639"/>
            <a:ext cx="1801368" cy="1355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000">
                <a:solidFill>
                  <a:srgbClr val="FFFFFF"/>
                </a:solidFill>
              </a:defRPr>
            </a:lvl1pPr>
          </a:lstStyle>
          <a:p>
            <a:pPr/>
            <a:r>
              <a:t>demography</a:t>
            </a:r>
          </a:p>
        </p:txBody>
      </p:sp>
      <p:sp>
        <p:nvSpPr>
          <p:cNvPr id="86" name="Shape 29"/>
          <p:cNvSpPr/>
          <p:nvPr/>
        </p:nvSpPr>
        <p:spPr>
          <a:xfrm>
            <a:off x="4114800" y="2295144"/>
            <a:ext cx="1801368" cy="1014984"/>
          </a:xfrm>
          <a:prstGeom prst="rect">
            <a:avLst/>
          </a:prstGeom>
          <a:solidFill>
            <a:srgbClr val="EBF3F9"/>
          </a:solidFill>
          <a:ln>
            <a:solidFill>
              <a:srgbClr val="B9D6EA"/>
            </a:solidFill>
          </a:ln>
        </p:spPr>
        <p:txBody>
          <a:bodyPr lIns="45719" rIns="45719"/>
          <a:lstStyle/>
          <a:p>
            <a:pPr/>
          </a:p>
        </p:txBody>
      </p:sp>
      <p:sp>
        <p:nvSpPr>
          <p:cNvPr id="87" name="Text 30"/>
          <p:cNvSpPr txBox="1"/>
          <p:nvPr/>
        </p:nvSpPr>
        <p:spPr>
          <a:xfrm>
            <a:off x="4206240" y="2340864"/>
            <a:ext cx="1664208" cy="75826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900">
                <a:solidFill>
                  <a:srgbClr val="356A90"/>
                </a:solidFill>
              </a:defRPr>
            </a:pPr>
            <a:r>
              <a:rPr>
                <a:solidFill>
                  <a:srgbClr val="1B3345"/>
                </a:solidFill>
              </a:rPr>
              <a:t>inpatient_number</a:t>
            </a:r>
          </a:p>
          <a:p>
            <a:pPr>
              <a:defRPr sz="900">
                <a:solidFill>
                  <a:srgbClr val="1B3345"/>
                </a:solidFill>
              </a:defRPr>
            </a:pPr>
            <a:r>
              <a:t>gender</a:t>
            </a:r>
          </a:p>
          <a:p>
            <a:pPr>
              <a:defRPr sz="900">
                <a:solidFill>
                  <a:srgbClr val="1B3345"/>
                </a:solidFill>
              </a:defRPr>
            </a:pPr>
            <a:r>
              <a:t>agecat</a:t>
            </a:r>
          </a:p>
          <a:p>
            <a:pPr>
              <a:defRPr sz="900">
                <a:solidFill>
                  <a:srgbClr val="1B3345"/>
                </a:solidFill>
              </a:defRPr>
            </a:pPr>
            <a:r>
              <a:t>bmi</a:t>
            </a:r>
          </a:p>
          <a:p>
            <a:pPr>
              <a:defRPr sz="900">
                <a:solidFill>
                  <a:srgbClr val="1B3345"/>
                </a:solidFill>
              </a:defRPr>
            </a:pPr>
            <a:r>
              <a:t>occupation</a:t>
            </a:r>
          </a:p>
          <a:p>
            <a:pPr>
              <a:defRPr i="1" sz="900">
                <a:solidFill>
                  <a:srgbClr val="666666"/>
                </a:solidFill>
              </a:defRPr>
            </a:pPr>
            <a:r>
              <a:t>+ 5 more columns</a:t>
            </a:r>
          </a:p>
        </p:txBody>
      </p:sp>
      <p:sp>
        <p:nvSpPr>
          <p:cNvPr id="88" name="Shape 31"/>
          <p:cNvSpPr/>
          <p:nvPr/>
        </p:nvSpPr>
        <p:spPr>
          <a:xfrm>
            <a:off x="6023152" y="2011679"/>
            <a:ext cx="1801369" cy="283465"/>
          </a:xfrm>
          <a:prstGeom prst="rect">
            <a:avLst/>
          </a:prstGeom>
          <a:solidFill>
            <a:srgbClr val="2F5C7E"/>
          </a:solidFill>
          <a:ln w="12700">
            <a:miter lim="400000"/>
          </a:ln>
        </p:spPr>
        <p:txBody>
          <a:bodyPr lIns="45719" rIns="45719"/>
          <a:lstStyle/>
          <a:p>
            <a:pPr/>
          </a:p>
        </p:txBody>
      </p:sp>
      <p:sp>
        <p:nvSpPr>
          <p:cNvPr id="89" name="Text 32"/>
          <p:cNvSpPr txBox="1"/>
          <p:nvPr/>
        </p:nvSpPr>
        <p:spPr>
          <a:xfrm>
            <a:off x="6023152" y="2085639"/>
            <a:ext cx="1801369" cy="1355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000">
                <a:solidFill>
                  <a:srgbClr val="FFFFFF"/>
                </a:solidFill>
              </a:defRPr>
            </a:lvl1pPr>
          </a:lstStyle>
          <a:p>
            <a:pPr/>
            <a:r>
              <a:t>hospitalization</a:t>
            </a:r>
          </a:p>
        </p:txBody>
      </p:sp>
      <p:sp>
        <p:nvSpPr>
          <p:cNvPr id="90" name="Shape 33"/>
          <p:cNvSpPr/>
          <p:nvPr/>
        </p:nvSpPr>
        <p:spPr>
          <a:xfrm>
            <a:off x="6023152" y="2295144"/>
            <a:ext cx="1801369" cy="1014984"/>
          </a:xfrm>
          <a:prstGeom prst="rect">
            <a:avLst/>
          </a:prstGeom>
          <a:solidFill>
            <a:srgbClr val="EBF3F9"/>
          </a:solidFill>
          <a:ln>
            <a:solidFill>
              <a:srgbClr val="B9D6EA"/>
            </a:solidFill>
          </a:ln>
        </p:spPr>
        <p:txBody>
          <a:bodyPr lIns="45719" rIns="45719"/>
          <a:lstStyle/>
          <a:p>
            <a:pPr/>
          </a:p>
        </p:txBody>
      </p:sp>
      <p:sp>
        <p:nvSpPr>
          <p:cNvPr id="91" name="Text 34"/>
          <p:cNvSpPr txBox="1"/>
          <p:nvPr/>
        </p:nvSpPr>
        <p:spPr>
          <a:xfrm>
            <a:off x="6114593" y="2340864"/>
            <a:ext cx="1664207" cy="75826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900">
                <a:solidFill>
                  <a:srgbClr val="356A90"/>
                </a:solidFill>
              </a:defRPr>
            </a:pPr>
            <a:r>
              <a:rPr>
                <a:solidFill>
                  <a:srgbClr val="1B3345"/>
                </a:solidFill>
              </a:rPr>
              <a:t>inpatient_number</a:t>
            </a:r>
          </a:p>
          <a:p>
            <a:pPr>
              <a:defRPr sz="900">
                <a:solidFill>
                  <a:srgbClr val="1B3345"/>
                </a:solidFill>
              </a:defRPr>
            </a:pPr>
            <a:r>
              <a:t>admission_ward</a:t>
            </a:r>
          </a:p>
          <a:p>
            <a:pPr>
              <a:defRPr sz="900">
                <a:solidFill>
                  <a:srgbClr val="1B3345"/>
                </a:solidFill>
              </a:defRPr>
            </a:pPr>
            <a:r>
              <a:t>admission_date</a:t>
            </a:r>
          </a:p>
          <a:p>
            <a:pPr>
              <a:defRPr sz="900">
                <a:solidFill>
                  <a:srgbClr val="1B3345"/>
                </a:solidFill>
              </a:defRPr>
            </a:pPr>
            <a:r>
              <a:t>dischargeday</a:t>
            </a:r>
          </a:p>
          <a:p>
            <a:pPr>
              <a:defRPr sz="900">
                <a:solidFill>
                  <a:srgbClr val="1B3345"/>
                </a:solidFill>
              </a:defRPr>
            </a:pPr>
            <a:r>
              <a:t>death_within_28_days</a:t>
            </a:r>
          </a:p>
          <a:p>
            <a:pPr>
              <a:defRPr i="1" sz="900">
                <a:solidFill>
                  <a:srgbClr val="666666"/>
                </a:solidFill>
              </a:defRPr>
            </a:pPr>
            <a:r>
              <a:t>+ 16 more columns</a:t>
            </a:r>
          </a:p>
        </p:txBody>
      </p:sp>
      <p:sp>
        <p:nvSpPr>
          <p:cNvPr id="92" name="Shape 35"/>
          <p:cNvSpPr/>
          <p:nvPr/>
        </p:nvSpPr>
        <p:spPr>
          <a:xfrm>
            <a:off x="7931505" y="2011679"/>
            <a:ext cx="1801369" cy="283465"/>
          </a:xfrm>
          <a:prstGeom prst="rect">
            <a:avLst/>
          </a:prstGeom>
          <a:solidFill>
            <a:srgbClr val="2F5C7E"/>
          </a:solidFill>
          <a:ln w="12700">
            <a:miter lim="400000"/>
          </a:ln>
        </p:spPr>
        <p:txBody>
          <a:bodyPr lIns="45719" rIns="45719"/>
          <a:lstStyle/>
          <a:p>
            <a:pPr/>
          </a:p>
        </p:txBody>
      </p:sp>
      <p:sp>
        <p:nvSpPr>
          <p:cNvPr id="93" name="Text 36"/>
          <p:cNvSpPr txBox="1"/>
          <p:nvPr/>
        </p:nvSpPr>
        <p:spPr>
          <a:xfrm>
            <a:off x="7931505" y="2085639"/>
            <a:ext cx="1801369" cy="1355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000">
                <a:solidFill>
                  <a:srgbClr val="FFFFFF"/>
                </a:solidFill>
              </a:defRPr>
            </a:lvl1pPr>
          </a:lstStyle>
          <a:p>
            <a:pPr/>
            <a:r>
              <a:t>labs</a:t>
            </a:r>
          </a:p>
        </p:txBody>
      </p:sp>
      <p:sp>
        <p:nvSpPr>
          <p:cNvPr id="94" name="Shape 37"/>
          <p:cNvSpPr/>
          <p:nvPr/>
        </p:nvSpPr>
        <p:spPr>
          <a:xfrm>
            <a:off x="7931505" y="2295144"/>
            <a:ext cx="1801369" cy="1014984"/>
          </a:xfrm>
          <a:prstGeom prst="rect">
            <a:avLst/>
          </a:prstGeom>
          <a:solidFill>
            <a:srgbClr val="EBF3F9"/>
          </a:solidFill>
          <a:ln>
            <a:solidFill>
              <a:srgbClr val="B9D6EA"/>
            </a:solidFill>
          </a:ln>
        </p:spPr>
        <p:txBody>
          <a:bodyPr lIns="45719" rIns="45719"/>
          <a:lstStyle/>
          <a:p>
            <a:pPr/>
          </a:p>
        </p:txBody>
      </p:sp>
      <p:sp>
        <p:nvSpPr>
          <p:cNvPr id="95" name="Text 38"/>
          <p:cNvSpPr txBox="1"/>
          <p:nvPr/>
        </p:nvSpPr>
        <p:spPr>
          <a:xfrm>
            <a:off x="8022945" y="2340864"/>
            <a:ext cx="1664208" cy="75826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900">
                <a:solidFill>
                  <a:srgbClr val="356A90"/>
                </a:solidFill>
              </a:defRPr>
            </a:pPr>
            <a:r>
              <a:rPr>
                <a:solidFill>
                  <a:srgbClr val="1B3345"/>
                </a:solidFill>
              </a:rPr>
              <a:t>inpatient_number</a:t>
            </a:r>
          </a:p>
          <a:p>
            <a:pPr>
              <a:defRPr sz="900">
                <a:solidFill>
                  <a:srgbClr val="1B3345"/>
                </a:solidFill>
              </a:defRPr>
            </a:pPr>
            <a:r>
              <a:t>pulse</a:t>
            </a:r>
          </a:p>
          <a:p>
            <a:pPr>
              <a:defRPr sz="900">
                <a:solidFill>
                  <a:srgbClr val="1B3345"/>
                </a:solidFill>
              </a:defRPr>
            </a:pPr>
            <a:r>
              <a:t>sodium</a:t>
            </a:r>
          </a:p>
          <a:p>
            <a:pPr>
              <a:defRPr sz="900">
                <a:solidFill>
                  <a:srgbClr val="1B3345"/>
                </a:solidFill>
              </a:defRPr>
            </a:pPr>
            <a:r>
              <a:t>lactate</a:t>
            </a:r>
          </a:p>
          <a:p>
            <a:pPr>
              <a:defRPr sz="900">
                <a:solidFill>
                  <a:srgbClr val="1B3345"/>
                </a:solidFill>
              </a:defRPr>
            </a:pPr>
            <a:r>
              <a:t>shock_index</a:t>
            </a:r>
          </a:p>
          <a:p>
            <a:pPr>
              <a:defRPr i="1" sz="900">
                <a:solidFill>
                  <a:srgbClr val="666666"/>
                </a:solidFill>
              </a:defRPr>
            </a:pPr>
            <a:r>
              <a:t>+ 106 more columns</a:t>
            </a:r>
          </a:p>
        </p:txBody>
      </p:sp>
      <p:sp>
        <p:nvSpPr>
          <p:cNvPr id="96" name="Shape 39"/>
          <p:cNvSpPr/>
          <p:nvPr/>
        </p:nvSpPr>
        <p:spPr>
          <a:xfrm>
            <a:off x="9839858" y="2011679"/>
            <a:ext cx="1801369" cy="283465"/>
          </a:xfrm>
          <a:prstGeom prst="rect">
            <a:avLst/>
          </a:prstGeom>
          <a:solidFill>
            <a:srgbClr val="2F5C7E"/>
          </a:solidFill>
          <a:ln w="12700">
            <a:miter lim="400000"/>
          </a:ln>
        </p:spPr>
        <p:txBody>
          <a:bodyPr lIns="45719" rIns="45719"/>
          <a:lstStyle/>
          <a:p>
            <a:pPr/>
          </a:p>
        </p:txBody>
      </p:sp>
      <p:sp>
        <p:nvSpPr>
          <p:cNvPr id="97" name="Text 40"/>
          <p:cNvSpPr txBox="1"/>
          <p:nvPr/>
        </p:nvSpPr>
        <p:spPr>
          <a:xfrm>
            <a:off x="9839858" y="2085639"/>
            <a:ext cx="1801369" cy="1355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000">
                <a:solidFill>
                  <a:srgbClr val="FFFFFF"/>
                </a:solidFill>
              </a:defRPr>
            </a:lvl1pPr>
          </a:lstStyle>
          <a:p>
            <a:pPr/>
            <a:r>
              <a:t>cardiac</a:t>
            </a:r>
          </a:p>
        </p:txBody>
      </p:sp>
      <p:sp>
        <p:nvSpPr>
          <p:cNvPr id="98" name="Shape 41"/>
          <p:cNvSpPr/>
          <p:nvPr/>
        </p:nvSpPr>
        <p:spPr>
          <a:xfrm>
            <a:off x="9839858" y="2295144"/>
            <a:ext cx="1801369" cy="1014984"/>
          </a:xfrm>
          <a:prstGeom prst="rect">
            <a:avLst/>
          </a:prstGeom>
          <a:solidFill>
            <a:srgbClr val="EBF3F9"/>
          </a:solidFill>
          <a:ln>
            <a:solidFill>
              <a:srgbClr val="B9D6EA"/>
            </a:solidFill>
          </a:ln>
        </p:spPr>
        <p:txBody>
          <a:bodyPr lIns="45719" rIns="45719"/>
          <a:lstStyle/>
          <a:p>
            <a:pPr/>
          </a:p>
        </p:txBody>
      </p:sp>
      <p:sp>
        <p:nvSpPr>
          <p:cNvPr id="99" name="Text 42"/>
          <p:cNvSpPr txBox="1"/>
          <p:nvPr/>
        </p:nvSpPr>
        <p:spPr>
          <a:xfrm>
            <a:off x="9931297" y="2340864"/>
            <a:ext cx="1664208" cy="75826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900">
                <a:solidFill>
                  <a:srgbClr val="356A90"/>
                </a:solidFill>
              </a:defRPr>
            </a:pPr>
            <a:r>
              <a:t> </a:t>
            </a:r>
            <a:r>
              <a:rPr>
                <a:solidFill>
                  <a:srgbClr val="1B3345"/>
                </a:solidFill>
              </a:rPr>
              <a:t>inpatient_number</a:t>
            </a:r>
          </a:p>
          <a:p>
            <a:pPr>
              <a:defRPr sz="900">
                <a:solidFill>
                  <a:srgbClr val="1B3345"/>
                </a:solidFill>
              </a:defRPr>
            </a:pPr>
            <a:r>
              <a:t>killip_grade</a:t>
            </a:r>
          </a:p>
          <a:p>
            <a:pPr>
              <a:defRPr sz="900">
                <a:solidFill>
                  <a:srgbClr val="1B3345"/>
                </a:solidFill>
              </a:defRPr>
            </a:pPr>
            <a:r>
              <a:t>lvef</a:t>
            </a:r>
          </a:p>
          <a:p>
            <a:pPr>
              <a:defRPr sz="900">
                <a:solidFill>
                  <a:srgbClr val="1B3345"/>
                </a:solidFill>
              </a:defRPr>
            </a:pPr>
            <a:r>
              <a:t>type_of_heart_failure</a:t>
            </a:r>
          </a:p>
          <a:p>
            <a:pPr>
              <a:defRPr sz="900">
                <a:solidFill>
                  <a:srgbClr val="1B3345"/>
                </a:solidFill>
              </a:defRPr>
            </a:pPr>
            <a:r>
              <a:t>myocardial_infarction</a:t>
            </a:r>
          </a:p>
          <a:p>
            <a:pPr>
              <a:defRPr i="1" sz="900">
                <a:solidFill>
                  <a:srgbClr val="666666"/>
                </a:solidFill>
              </a:defRPr>
            </a:pPr>
            <a:r>
              <a:t>+ 9 more columns</a:t>
            </a:r>
          </a:p>
        </p:txBody>
      </p:sp>
      <p:sp>
        <p:nvSpPr>
          <p:cNvPr id="100" name="Shape 43"/>
          <p:cNvSpPr/>
          <p:nvPr/>
        </p:nvSpPr>
        <p:spPr>
          <a:xfrm>
            <a:off x="4114800" y="4956047"/>
            <a:ext cx="1801368" cy="283465"/>
          </a:xfrm>
          <a:prstGeom prst="rect">
            <a:avLst/>
          </a:prstGeom>
          <a:solidFill>
            <a:srgbClr val="2F5C7E"/>
          </a:solidFill>
          <a:ln w="12700">
            <a:miter lim="400000"/>
          </a:ln>
        </p:spPr>
        <p:txBody>
          <a:bodyPr lIns="45719" rIns="45719"/>
          <a:lstStyle/>
          <a:p>
            <a:pPr/>
          </a:p>
        </p:txBody>
      </p:sp>
      <p:sp>
        <p:nvSpPr>
          <p:cNvPr id="101" name="Text 44"/>
          <p:cNvSpPr txBox="1"/>
          <p:nvPr/>
        </p:nvSpPr>
        <p:spPr>
          <a:xfrm>
            <a:off x="4114800" y="5030007"/>
            <a:ext cx="1801368" cy="1355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000">
                <a:solidFill>
                  <a:srgbClr val="FFFFFF"/>
                </a:solidFill>
              </a:defRPr>
            </a:lvl1pPr>
          </a:lstStyle>
          <a:p>
            <a:pPr/>
            <a:r>
              <a:t>patient_history</a:t>
            </a:r>
          </a:p>
        </p:txBody>
      </p:sp>
      <p:sp>
        <p:nvSpPr>
          <p:cNvPr id="102" name="Shape 45"/>
          <p:cNvSpPr/>
          <p:nvPr/>
        </p:nvSpPr>
        <p:spPr>
          <a:xfrm>
            <a:off x="4114800" y="5239511"/>
            <a:ext cx="1801368" cy="1014985"/>
          </a:xfrm>
          <a:prstGeom prst="rect">
            <a:avLst/>
          </a:prstGeom>
          <a:solidFill>
            <a:srgbClr val="EBF3F9"/>
          </a:solidFill>
          <a:ln>
            <a:solidFill>
              <a:srgbClr val="B9D6EA"/>
            </a:solidFill>
          </a:ln>
        </p:spPr>
        <p:txBody>
          <a:bodyPr lIns="45719" rIns="45719"/>
          <a:lstStyle/>
          <a:p>
            <a:pPr/>
          </a:p>
        </p:txBody>
      </p:sp>
      <p:sp>
        <p:nvSpPr>
          <p:cNvPr id="103" name="Text 46"/>
          <p:cNvSpPr txBox="1"/>
          <p:nvPr/>
        </p:nvSpPr>
        <p:spPr>
          <a:xfrm>
            <a:off x="4206240" y="5285232"/>
            <a:ext cx="1664208" cy="75826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900">
                <a:solidFill>
                  <a:srgbClr val="356A90"/>
                </a:solidFill>
              </a:defRPr>
            </a:pPr>
            <a:r>
              <a:rPr>
                <a:solidFill>
                  <a:srgbClr val="1B3345"/>
                </a:solidFill>
              </a:rPr>
              <a:t>inpatient_number</a:t>
            </a:r>
          </a:p>
          <a:p>
            <a:pPr>
              <a:defRPr sz="900">
                <a:solidFill>
                  <a:srgbClr val="1B3345"/>
                </a:solidFill>
              </a:defRPr>
            </a:pPr>
            <a:r>
              <a:t>cci_score</a:t>
            </a:r>
          </a:p>
          <a:p>
            <a:pPr>
              <a:defRPr sz="900">
                <a:solidFill>
                  <a:srgbClr val="1B3345"/>
                </a:solidFill>
              </a:defRPr>
            </a:pPr>
            <a:r>
              <a:t>diabetes</a:t>
            </a:r>
          </a:p>
          <a:p>
            <a:pPr>
              <a:defRPr sz="900">
                <a:solidFill>
                  <a:srgbClr val="1B3345"/>
                </a:solidFill>
              </a:defRPr>
            </a:pPr>
            <a:r>
              <a:t>dementia</a:t>
            </a:r>
          </a:p>
          <a:p>
            <a:pPr>
              <a:defRPr sz="900">
                <a:solidFill>
                  <a:srgbClr val="1B3345"/>
                </a:solidFill>
              </a:defRPr>
            </a:pPr>
            <a:r>
              <a:t>liver_disease</a:t>
            </a:r>
          </a:p>
          <a:p>
            <a:pPr>
              <a:defRPr i="1" sz="900">
                <a:solidFill>
                  <a:srgbClr val="666666"/>
                </a:solidFill>
              </a:defRPr>
            </a:pPr>
            <a:r>
              <a:t>+ 12 more columns</a:t>
            </a:r>
          </a:p>
        </p:txBody>
      </p:sp>
      <p:sp>
        <p:nvSpPr>
          <p:cNvPr id="104" name="Shape 47"/>
          <p:cNvSpPr/>
          <p:nvPr/>
        </p:nvSpPr>
        <p:spPr>
          <a:xfrm>
            <a:off x="6023152" y="4956047"/>
            <a:ext cx="1801369" cy="283465"/>
          </a:xfrm>
          <a:prstGeom prst="rect">
            <a:avLst/>
          </a:prstGeom>
          <a:solidFill>
            <a:srgbClr val="2F5C7E"/>
          </a:solidFill>
          <a:ln w="12700">
            <a:miter lim="400000"/>
          </a:ln>
        </p:spPr>
        <p:txBody>
          <a:bodyPr lIns="45719" rIns="45719"/>
          <a:lstStyle/>
          <a:p>
            <a:pPr/>
          </a:p>
        </p:txBody>
      </p:sp>
      <p:sp>
        <p:nvSpPr>
          <p:cNvPr id="105" name="Text 48"/>
          <p:cNvSpPr txBox="1"/>
          <p:nvPr/>
        </p:nvSpPr>
        <p:spPr>
          <a:xfrm>
            <a:off x="6023152" y="5030007"/>
            <a:ext cx="1801369" cy="1355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000">
                <a:solidFill>
                  <a:srgbClr val="FFFFFF"/>
                </a:solidFill>
              </a:defRPr>
            </a:lvl1pPr>
          </a:lstStyle>
          <a:p>
            <a:pPr/>
            <a:r>
              <a:t>responsiveness</a:t>
            </a:r>
          </a:p>
        </p:txBody>
      </p:sp>
      <p:sp>
        <p:nvSpPr>
          <p:cNvPr id="106" name="Shape 49"/>
          <p:cNvSpPr/>
          <p:nvPr/>
        </p:nvSpPr>
        <p:spPr>
          <a:xfrm>
            <a:off x="6023152" y="5239511"/>
            <a:ext cx="1801369" cy="1014985"/>
          </a:xfrm>
          <a:prstGeom prst="rect">
            <a:avLst/>
          </a:prstGeom>
          <a:solidFill>
            <a:srgbClr val="EBF3F9"/>
          </a:solidFill>
          <a:ln>
            <a:solidFill>
              <a:srgbClr val="B9D6EA"/>
            </a:solidFill>
          </a:ln>
        </p:spPr>
        <p:txBody>
          <a:bodyPr lIns="45719" rIns="45719"/>
          <a:lstStyle/>
          <a:p>
            <a:pPr/>
          </a:p>
        </p:txBody>
      </p:sp>
      <p:sp>
        <p:nvSpPr>
          <p:cNvPr id="107" name="Text 50"/>
          <p:cNvSpPr txBox="1"/>
          <p:nvPr/>
        </p:nvSpPr>
        <p:spPr>
          <a:xfrm>
            <a:off x="6114593" y="5285232"/>
            <a:ext cx="1664207" cy="75826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900">
                <a:solidFill>
                  <a:srgbClr val="356A90"/>
                </a:solidFill>
              </a:defRPr>
            </a:pPr>
            <a:r>
              <a:rPr>
                <a:solidFill>
                  <a:srgbClr val="1B3345"/>
                </a:solidFill>
              </a:rPr>
              <a:t>inpatient_number</a:t>
            </a:r>
          </a:p>
          <a:p>
            <a:pPr>
              <a:defRPr sz="900">
                <a:solidFill>
                  <a:srgbClr val="1B3345"/>
                </a:solidFill>
              </a:defRPr>
            </a:pPr>
            <a:r>
              <a:t>eye_opening</a:t>
            </a:r>
          </a:p>
          <a:p>
            <a:pPr>
              <a:defRPr sz="900">
                <a:solidFill>
                  <a:srgbClr val="1B3345"/>
                </a:solidFill>
              </a:defRPr>
            </a:pPr>
            <a:r>
              <a:t>verbal_response</a:t>
            </a:r>
          </a:p>
          <a:p>
            <a:pPr>
              <a:defRPr sz="900">
                <a:solidFill>
                  <a:srgbClr val="1B3345"/>
                </a:solidFill>
              </a:defRPr>
            </a:pPr>
            <a:r>
              <a:t>movement</a:t>
            </a:r>
          </a:p>
          <a:p>
            <a:pPr>
              <a:defRPr sz="900">
                <a:solidFill>
                  <a:srgbClr val="1B3345"/>
                </a:solidFill>
              </a:defRPr>
            </a:pPr>
            <a:r>
              <a:t>consciousness</a:t>
            </a:r>
          </a:p>
          <a:p>
            <a:pPr>
              <a:defRPr sz="900">
                <a:solidFill>
                  <a:srgbClr val="1B3345"/>
                </a:solidFill>
              </a:defRPr>
            </a:pPr>
            <a:r>
              <a:t>gcs</a:t>
            </a:r>
          </a:p>
        </p:txBody>
      </p:sp>
      <p:sp>
        <p:nvSpPr>
          <p:cNvPr id="108" name="Shape 51"/>
          <p:cNvSpPr/>
          <p:nvPr/>
        </p:nvSpPr>
        <p:spPr>
          <a:xfrm>
            <a:off x="7931505" y="4956047"/>
            <a:ext cx="1801369" cy="283465"/>
          </a:xfrm>
          <a:prstGeom prst="rect">
            <a:avLst/>
          </a:prstGeom>
          <a:solidFill>
            <a:srgbClr val="2F5C7E"/>
          </a:solidFill>
          <a:ln w="12700">
            <a:miter lim="400000"/>
          </a:ln>
        </p:spPr>
        <p:txBody>
          <a:bodyPr lIns="45719" rIns="45719"/>
          <a:lstStyle/>
          <a:p>
            <a:pPr/>
          </a:p>
        </p:txBody>
      </p:sp>
      <p:sp>
        <p:nvSpPr>
          <p:cNvPr id="109" name="Text 52"/>
          <p:cNvSpPr txBox="1"/>
          <p:nvPr/>
        </p:nvSpPr>
        <p:spPr>
          <a:xfrm>
            <a:off x="7931505" y="5030007"/>
            <a:ext cx="1801369" cy="1355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000">
                <a:solidFill>
                  <a:srgbClr val="FFFFFF"/>
                </a:solidFill>
              </a:defRPr>
            </a:lvl1pPr>
          </a:lstStyle>
          <a:p>
            <a:pPr/>
            <a:r>
              <a:t>prescriptions</a:t>
            </a:r>
          </a:p>
        </p:txBody>
      </p:sp>
      <p:sp>
        <p:nvSpPr>
          <p:cNvPr id="110" name="Shape 53"/>
          <p:cNvSpPr/>
          <p:nvPr/>
        </p:nvSpPr>
        <p:spPr>
          <a:xfrm>
            <a:off x="7931505" y="5239511"/>
            <a:ext cx="1801369" cy="1014985"/>
          </a:xfrm>
          <a:prstGeom prst="rect">
            <a:avLst/>
          </a:prstGeom>
          <a:solidFill>
            <a:srgbClr val="EBF3F9"/>
          </a:solidFill>
          <a:ln>
            <a:solidFill>
              <a:srgbClr val="B9D6EA"/>
            </a:solidFill>
          </a:ln>
        </p:spPr>
        <p:txBody>
          <a:bodyPr lIns="45719" rIns="45719"/>
          <a:lstStyle/>
          <a:p>
            <a:pPr/>
          </a:p>
        </p:txBody>
      </p:sp>
      <p:sp>
        <p:nvSpPr>
          <p:cNvPr id="111" name="Text 54"/>
          <p:cNvSpPr txBox="1"/>
          <p:nvPr/>
        </p:nvSpPr>
        <p:spPr>
          <a:xfrm>
            <a:off x="8022945" y="5285232"/>
            <a:ext cx="1664208" cy="63126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900">
                <a:solidFill>
                  <a:srgbClr val="356A90"/>
                </a:solidFill>
              </a:defRPr>
            </a:pPr>
            <a:r>
              <a:t> </a:t>
            </a:r>
            <a:r>
              <a:rPr>
                <a:solidFill>
                  <a:srgbClr val="1B3345"/>
                </a:solidFill>
              </a:rPr>
              <a:t>inpatient_number</a:t>
            </a:r>
          </a:p>
          <a:p>
            <a:pPr>
              <a:defRPr sz="900">
                <a:solidFill>
                  <a:srgbClr val="1B3345"/>
                </a:solidFill>
              </a:defRPr>
            </a:pPr>
            <a:r>
              <a:t>rx_digoxin_tablet</a:t>
            </a:r>
          </a:p>
          <a:p>
            <a:pPr>
              <a:defRPr sz="900">
                <a:solidFill>
                  <a:srgbClr val="1B3345"/>
                </a:solidFill>
              </a:defRPr>
            </a:pPr>
            <a:r>
              <a:t>rx_furosemide_tablet</a:t>
            </a:r>
          </a:p>
          <a:p>
            <a:pPr>
              <a:defRPr sz="900">
                <a:solidFill>
                  <a:srgbClr val="1B3345"/>
                </a:solidFill>
              </a:defRPr>
            </a:pPr>
            <a:r>
              <a:t>rx_milrinone_injection</a:t>
            </a:r>
          </a:p>
          <a:p>
            <a:pPr>
              <a:defRPr i="1" sz="900">
                <a:solidFill>
                  <a:srgbClr val="666666"/>
                </a:solidFill>
              </a:defRPr>
            </a:pPr>
            <a:r>
              <a:t>+ 23 more columns</a:t>
            </a:r>
          </a:p>
        </p:txBody>
      </p:sp>
      <p:sp>
        <p:nvSpPr>
          <p:cNvPr id="112" name="Shape 55"/>
          <p:cNvSpPr/>
          <p:nvPr/>
        </p:nvSpPr>
        <p:spPr>
          <a:xfrm>
            <a:off x="9839858" y="4956047"/>
            <a:ext cx="1801369" cy="1298449"/>
          </a:xfrm>
          <a:prstGeom prst="roundRect">
            <a:avLst>
              <a:gd name="adj" fmla="val 5634"/>
            </a:avLst>
          </a:prstGeom>
          <a:ln w="15875">
            <a:solidFill>
              <a:srgbClr val="B9D6EA"/>
            </a:solidFill>
            <a:prstDash val="dash"/>
          </a:ln>
        </p:spPr>
        <p:txBody>
          <a:bodyPr lIns="45719" rIns="45719"/>
          <a:lstStyle/>
          <a:p>
            <a:pPr/>
          </a:p>
        </p:txBody>
      </p:sp>
      <p:sp>
        <p:nvSpPr>
          <p:cNvPr id="113" name="Text 56"/>
          <p:cNvSpPr txBox="1"/>
          <p:nvPr/>
        </p:nvSpPr>
        <p:spPr>
          <a:xfrm>
            <a:off x="9949585" y="5029200"/>
            <a:ext cx="1600201" cy="50426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900">
                <a:solidFill>
                  <a:srgbClr val="2F5C7E"/>
                </a:solidFill>
              </a:defRPr>
            </a:pPr>
            <a:r>
              <a:t>Legend</a:t>
            </a:r>
          </a:p>
          <a:p>
            <a:pPr>
              <a:defRPr sz="900">
                <a:solidFill>
                  <a:srgbClr val="1B3345"/>
                </a:solidFill>
              </a:defRPr>
            </a:pPr>
          </a:p>
          <a:p>
            <a:pPr>
              <a:defRPr sz="900">
                <a:solidFill>
                  <a:srgbClr val="1B3345"/>
                </a:solidFill>
              </a:defRPr>
            </a:pPr>
            <a:r>
              <a:t>1:1: one row matches one row</a:t>
            </a:r>
          </a:p>
          <a:p>
            <a:pPr>
              <a:defRPr sz="900">
                <a:solidFill>
                  <a:srgbClr val="1B3345"/>
                </a:solidFill>
              </a:defRPr>
            </a:pPr>
            <a:r>
              <a:t>Left join, base = demography</a:t>
            </a:r>
          </a:p>
        </p:txBody>
      </p:sp>
      <p:sp>
        <p:nvSpPr>
          <p:cNvPr id="114" name="Shape 57"/>
          <p:cNvSpPr/>
          <p:nvPr/>
        </p:nvSpPr>
        <p:spPr>
          <a:xfrm>
            <a:off x="6048755" y="3749040"/>
            <a:ext cx="3657601" cy="731521"/>
          </a:xfrm>
          <a:prstGeom prst="roundRect">
            <a:avLst>
              <a:gd name="adj" fmla="val 12500"/>
            </a:avLst>
          </a:prstGeom>
          <a:solidFill>
            <a:srgbClr val="2F5C7E"/>
          </a:solidFill>
          <a:ln w="12700">
            <a:miter lim="400000"/>
          </a:ln>
          <a:effectLst>
            <a:outerShdw sx="100000" sy="100000" kx="0" ky="0" algn="b" rotWithShape="0" blurRad="76200" dist="25400" dir="5400000">
              <a:srgbClr val="000000">
                <a:alpha val="12000"/>
              </a:srgbClr>
            </a:outerShdw>
          </a:effectLst>
        </p:spPr>
        <p:txBody>
          <a:bodyPr lIns="45719" rIns="45719"/>
          <a:lstStyle/>
          <a:p>
            <a:pPr/>
          </a:p>
        </p:txBody>
      </p:sp>
      <p:sp>
        <p:nvSpPr>
          <p:cNvPr id="115" name="Text 58"/>
          <p:cNvSpPr txBox="1"/>
          <p:nvPr/>
        </p:nvSpPr>
        <p:spPr>
          <a:xfrm>
            <a:off x="6048755" y="3945427"/>
            <a:ext cx="3657601" cy="3387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b="1" sz="1400">
                <a:solidFill>
                  <a:srgbClr val="FFFFFF"/>
                </a:solidFill>
              </a:defRPr>
            </a:pPr>
            <a:r>
              <a:t>Team4_The_Zen_Of_Five_Cleaned_Data</a:t>
            </a:r>
          </a:p>
          <a:p>
            <a:pPr algn="ctr">
              <a:defRPr sz="1000">
                <a:solidFill>
                  <a:srgbClr val="D8E8F4"/>
                </a:solidFill>
              </a:defRPr>
            </a:pPr>
            <a:r>
              <a:t>2,008 rows x 200 columns  |  PK inpatient_number</a:t>
            </a:r>
          </a:p>
        </p:txBody>
      </p:sp>
      <p:sp>
        <p:nvSpPr>
          <p:cNvPr id="116" name="Shape 59"/>
          <p:cNvSpPr/>
          <p:nvPr/>
        </p:nvSpPr>
        <p:spPr>
          <a:xfrm>
            <a:off x="5015484" y="3310128"/>
            <a:ext cx="1" cy="219457"/>
          </a:xfrm>
          <a:prstGeom prst="line">
            <a:avLst/>
          </a:prstGeom>
          <a:ln w="22225">
            <a:solidFill>
              <a:srgbClr val="5B93BA"/>
            </a:solidFill>
          </a:ln>
        </p:spPr>
        <p:txBody>
          <a:bodyPr lIns="45719" rIns="45719"/>
          <a:lstStyle/>
          <a:p>
            <a:pPr/>
          </a:p>
        </p:txBody>
      </p:sp>
      <p:sp>
        <p:nvSpPr>
          <p:cNvPr id="117" name="Shape 60"/>
          <p:cNvSpPr/>
          <p:nvPr/>
        </p:nvSpPr>
        <p:spPr>
          <a:xfrm>
            <a:off x="6923836" y="3310128"/>
            <a:ext cx="1" cy="219457"/>
          </a:xfrm>
          <a:prstGeom prst="line">
            <a:avLst/>
          </a:prstGeom>
          <a:ln w="22225">
            <a:solidFill>
              <a:srgbClr val="5B93BA"/>
            </a:solidFill>
          </a:ln>
        </p:spPr>
        <p:txBody>
          <a:bodyPr lIns="45719" rIns="45719"/>
          <a:lstStyle/>
          <a:p>
            <a:pPr/>
          </a:p>
        </p:txBody>
      </p:sp>
      <p:sp>
        <p:nvSpPr>
          <p:cNvPr id="118" name="Shape 61"/>
          <p:cNvSpPr/>
          <p:nvPr/>
        </p:nvSpPr>
        <p:spPr>
          <a:xfrm>
            <a:off x="8832190" y="3310128"/>
            <a:ext cx="1" cy="219457"/>
          </a:xfrm>
          <a:prstGeom prst="line">
            <a:avLst/>
          </a:prstGeom>
          <a:ln w="22225">
            <a:solidFill>
              <a:srgbClr val="5B93BA"/>
            </a:solidFill>
          </a:ln>
        </p:spPr>
        <p:txBody>
          <a:bodyPr lIns="45719" rIns="45719"/>
          <a:lstStyle/>
          <a:p>
            <a:pPr/>
          </a:p>
        </p:txBody>
      </p:sp>
      <p:sp>
        <p:nvSpPr>
          <p:cNvPr id="119" name="Shape 62"/>
          <p:cNvSpPr/>
          <p:nvPr/>
        </p:nvSpPr>
        <p:spPr>
          <a:xfrm>
            <a:off x="10740541" y="3310128"/>
            <a:ext cx="1" cy="219457"/>
          </a:xfrm>
          <a:prstGeom prst="line">
            <a:avLst/>
          </a:prstGeom>
          <a:ln w="22225">
            <a:solidFill>
              <a:srgbClr val="5B93BA"/>
            </a:solidFill>
          </a:ln>
        </p:spPr>
        <p:txBody>
          <a:bodyPr lIns="45719" rIns="45719"/>
          <a:lstStyle/>
          <a:p>
            <a:pPr/>
          </a:p>
        </p:txBody>
      </p:sp>
      <p:sp>
        <p:nvSpPr>
          <p:cNvPr id="120" name="Shape 63"/>
          <p:cNvSpPr/>
          <p:nvPr/>
        </p:nvSpPr>
        <p:spPr>
          <a:xfrm>
            <a:off x="5015484" y="3529584"/>
            <a:ext cx="5725059" cy="1"/>
          </a:xfrm>
          <a:prstGeom prst="line">
            <a:avLst/>
          </a:prstGeom>
          <a:ln w="22225">
            <a:solidFill>
              <a:srgbClr val="5B93BA"/>
            </a:solidFill>
          </a:ln>
        </p:spPr>
        <p:txBody>
          <a:bodyPr lIns="45719" rIns="45719"/>
          <a:lstStyle/>
          <a:p>
            <a:pPr/>
          </a:p>
        </p:txBody>
      </p:sp>
      <p:sp>
        <p:nvSpPr>
          <p:cNvPr id="121" name="Shape 64"/>
          <p:cNvSpPr/>
          <p:nvPr/>
        </p:nvSpPr>
        <p:spPr>
          <a:xfrm>
            <a:off x="7877556" y="3529584"/>
            <a:ext cx="1" cy="219457"/>
          </a:xfrm>
          <a:prstGeom prst="line">
            <a:avLst/>
          </a:prstGeom>
          <a:ln w="22225">
            <a:solidFill>
              <a:srgbClr val="5B93BA"/>
            </a:solidFill>
          </a:ln>
        </p:spPr>
        <p:txBody>
          <a:bodyPr lIns="45719" rIns="45719"/>
          <a:lstStyle/>
          <a:p>
            <a:pPr/>
          </a:p>
        </p:txBody>
      </p:sp>
      <p:sp>
        <p:nvSpPr>
          <p:cNvPr id="122" name="Shape 65"/>
          <p:cNvSpPr/>
          <p:nvPr/>
        </p:nvSpPr>
        <p:spPr>
          <a:xfrm>
            <a:off x="5015484" y="4700015"/>
            <a:ext cx="1" cy="256033"/>
          </a:xfrm>
          <a:prstGeom prst="line">
            <a:avLst/>
          </a:prstGeom>
          <a:ln w="22225">
            <a:solidFill>
              <a:srgbClr val="5B93BA"/>
            </a:solidFill>
          </a:ln>
        </p:spPr>
        <p:txBody>
          <a:bodyPr lIns="45719" rIns="45719"/>
          <a:lstStyle/>
          <a:p>
            <a:pPr/>
          </a:p>
        </p:txBody>
      </p:sp>
      <p:sp>
        <p:nvSpPr>
          <p:cNvPr id="123" name="Shape 66"/>
          <p:cNvSpPr/>
          <p:nvPr/>
        </p:nvSpPr>
        <p:spPr>
          <a:xfrm>
            <a:off x="6923836" y="4700015"/>
            <a:ext cx="1" cy="256033"/>
          </a:xfrm>
          <a:prstGeom prst="line">
            <a:avLst/>
          </a:prstGeom>
          <a:ln w="22225">
            <a:solidFill>
              <a:srgbClr val="5B93BA"/>
            </a:solidFill>
          </a:ln>
        </p:spPr>
        <p:txBody>
          <a:bodyPr lIns="45719" rIns="45719"/>
          <a:lstStyle/>
          <a:p>
            <a:pPr/>
          </a:p>
        </p:txBody>
      </p:sp>
      <p:sp>
        <p:nvSpPr>
          <p:cNvPr id="124" name="Shape 67"/>
          <p:cNvSpPr/>
          <p:nvPr/>
        </p:nvSpPr>
        <p:spPr>
          <a:xfrm>
            <a:off x="8832190" y="4700015"/>
            <a:ext cx="1" cy="256033"/>
          </a:xfrm>
          <a:prstGeom prst="line">
            <a:avLst/>
          </a:prstGeom>
          <a:ln w="22225">
            <a:solidFill>
              <a:srgbClr val="5B93BA"/>
            </a:solidFill>
          </a:ln>
        </p:spPr>
        <p:txBody>
          <a:bodyPr lIns="45719" rIns="45719"/>
          <a:lstStyle/>
          <a:p>
            <a:pPr/>
          </a:p>
        </p:txBody>
      </p:sp>
      <p:sp>
        <p:nvSpPr>
          <p:cNvPr id="125" name="Shape 68"/>
          <p:cNvSpPr/>
          <p:nvPr/>
        </p:nvSpPr>
        <p:spPr>
          <a:xfrm>
            <a:off x="5015484" y="4700015"/>
            <a:ext cx="3816707" cy="1"/>
          </a:xfrm>
          <a:prstGeom prst="line">
            <a:avLst/>
          </a:prstGeom>
          <a:ln w="22225">
            <a:solidFill>
              <a:srgbClr val="5B93BA"/>
            </a:solidFill>
          </a:ln>
        </p:spPr>
        <p:txBody>
          <a:bodyPr lIns="45719" rIns="45719"/>
          <a:lstStyle/>
          <a:p>
            <a:pPr/>
          </a:p>
        </p:txBody>
      </p:sp>
      <p:sp>
        <p:nvSpPr>
          <p:cNvPr id="126" name="Shape 69"/>
          <p:cNvSpPr/>
          <p:nvPr/>
        </p:nvSpPr>
        <p:spPr>
          <a:xfrm>
            <a:off x="7877556" y="4480560"/>
            <a:ext cx="1" cy="219457"/>
          </a:xfrm>
          <a:prstGeom prst="line">
            <a:avLst/>
          </a:prstGeom>
          <a:ln w="22225">
            <a:solidFill>
              <a:srgbClr val="5B93BA"/>
            </a:solidFill>
          </a:ln>
        </p:spPr>
        <p:txBody>
          <a:bodyPr lIns="45719" rIns="45719"/>
          <a:lstStyle/>
          <a:p>
            <a:pPr/>
          </a:p>
        </p:txBody>
      </p:sp>
      <p:sp>
        <p:nvSpPr>
          <p:cNvPr id="127" name="Text 70"/>
          <p:cNvSpPr txBox="1"/>
          <p:nvPr/>
        </p:nvSpPr>
        <p:spPr>
          <a:xfrm>
            <a:off x="5070347" y="3374644"/>
            <a:ext cx="82296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356A90"/>
                </a:solidFill>
              </a:defRPr>
            </a:lvl1pPr>
          </a:lstStyle>
          <a:p>
            <a:pPr/>
            <a:r>
              <a:t>1:1</a:t>
            </a:r>
          </a:p>
        </p:txBody>
      </p:sp>
      <p:sp>
        <p:nvSpPr>
          <p:cNvPr id="128" name="Text 71"/>
          <p:cNvSpPr txBox="1"/>
          <p:nvPr/>
        </p:nvSpPr>
        <p:spPr>
          <a:xfrm>
            <a:off x="6978701" y="3374644"/>
            <a:ext cx="82296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356A90"/>
                </a:solidFill>
              </a:defRPr>
            </a:lvl1pPr>
          </a:lstStyle>
          <a:p>
            <a:pPr/>
            <a:r>
              <a:t>1:1</a:t>
            </a:r>
          </a:p>
        </p:txBody>
      </p:sp>
      <p:sp>
        <p:nvSpPr>
          <p:cNvPr id="129" name="Text 72"/>
          <p:cNvSpPr txBox="1"/>
          <p:nvPr/>
        </p:nvSpPr>
        <p:spPr>
          <a:xfrm>
            <a:off x="8887053" y="3374644"/>
            <a:ext cx="82296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356A90"/>
                </a:solidFill>
              </a:defRPr>
            </a:lvl1pPr>
          </a:lstStyle>
          <a:p>
            <a:pPr/>
            <a:r>
              <a:t>1:1</a:t>
            </a:r>
          </a:p>
        </p:txBody>
      </p:sp>
      <p:sp>
        <p:nvSpPr>
          <p:cNvPr id="130" name="Text 73"/>
          <p:cNvSpPr txBox="1"/>
          <p:nvPr/>
        </p:nvSpPr>
        <p:spPr>
          <a:xfrm>
            <a:off x="10795406" y="3374644"/>
            <a:ext cx="82296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356A90"/>
                </a:solidFill>
              </a:defRPr>
            </a:lvl1pPr>
          </a:lstStyle>
          <a:p>
            <a:pPr/>
            <a:r>
              <a:t>1:1</a:t>
            </a:r>
          </a:p>
        </p:txBody>
      </p:sp>
      <p:sp>
        <p:nvSpPr>
          <p:cNvPr id="131" name="Text 74"/>
          <p:cNvSpPr txBox="1"/>
          <p:nvPr/>
        </p:nvSpPr>
        <p:spPr>
          <a:xfrm>
            <a:off x="5070347" y="4773676"/>
            <a:ext cx="82296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356A90"/>
                </a:solidFill>
              </a:defRPr>
            </a:lvl1pPr>
          </a:lstStyle>
          <a:p>
            <a:pPr/>
            <a:r>
              <a:t>1:1</a:t>
            </a:r>
          </a:p>
        </p:txBody>
      </p:sp>
      <p:sp>
        <p:nvSpPr>
          <p:cNvPr id="132" name="Text 75"/>
          <p:cNvSpPr txBox="1"/>
          <p:nvPr/>
        </p:nvSpPr>
        <p:spPr>
          <a:xfrm>
            <a:off x="6978701" y="4773676"/>
            <a:ext cx="82296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356A90"/>
                </a:solidFill>
              </a:defRPr>
            </a:lvl1pPr>
          </a:lstStyle>
          <a:p>
            <a:pPr/>
            <a:r>
              <a:t>1:1</a:t>
            </a:r>
          </a:p>
        </p:txBody>
      </p:sp>
      <p:sp>
        <p:nvSpPr>
          <p:cNvPr id="133" name="Text 76"/>
          <p:cNvSpPr txBox="1"/>
          <p:nvPr/>
        </p:nvSpPr>
        <p:spPr>
          <a:xfrm>
            <a:off x="8887053" y="4773676"/>
            <a:ext cx="82296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356A90"/>
                </a:solidFill>
              </a:defRPr>
            </a:lvl1pPr>
          </a:lstStyle>
          <a:p>
            <a:pPr/>
            <a:r>
              <a:t>1:0..1</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7" name="Shape 0"/>
          <p:cNvSpPr/>
          <p:nvPr/>
        </p:nvSpPr>
        <p:spPr>
          <a:xfrm>
            <a:off x="548640" y="256031"/>
            <a:ext cx="5310221" cy="384049"/>
          </a:xfrm>
          <a:prstGeom prst="roundRect">
            <a:avLst>
              <a:gd name="adj" fmla="val 35714"/>
            </a:avLst>
          </a:prstGeom>
          <a:solidFill>
            <a:srgbClr val="356A90"/>
          </a:solidFill>
          <a:ln w="12700">
            <a:miter lim="400000"/>
          </a:ln>
        </p:spPr>
        <p:txBody>
          <a:bodyPr lIns="45719" rIns="45719"/>
          <a:lstStyle/>
          <a:p>
            <a:pPr>
              <a:defRPr sz="2000"/>
            </a:pPr>
          </a:p>
        </p:txBody>
      </p:sp>
      <p:sp>
        <p:nvSpPr>
          <p:cNvPr id="138" name="Text 1"/>
          <p:cNvSpPr txBox="1"/>
          <p:nvPr/>
        </p:nvSpPr>
        <p:spPr>
          <a:xfrm>
            <a:off x="548640" y="372270"/>
            <a:ext cx="5146021" cy="1851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pc="260" sz="1300">
                <a:solidFill>
                  <a:srgbClr val="FFFFFF"/>
                </a:solidFill>
              </a:defRPr>
            </a:lvl1pPr>
          </a:lstStyle>
          <a:p>
            <a:pPr/>
            <a:r>
              <a:t>DESCRIPTIVE + PRESCRIPTIVE + PREDICTIVE</a:t>
            </a:r>
          </a:p>
        </p:txBody>
      </p:sp>
      <p:sp>
        <p:nvSpPr>
          <p:cNvPr id="139" name="Text 2"/>
          <p:cNvSpPr txBox="1"/>
          <p:nvPr/>
        </p:nvSpPr>
        <p:spPr>
          <a:xfrm>
            <a:off x="548639" y="871219"/>
            <a:ext cx="11094417" cy="33334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300">
                <a:solidFill>
                  <a:srgbClr val="24445E"/>
                </a:solidFill>
              </a:defRPr>
            </a:lvl1pPr>
          </a:lstStyle>
          <a:p>
            <a:pPr/>
            <a:r>
              <a:t>Three lenses on the same 2,008 patients</a:t>
            </a:r>
          </a:p>
        </p:txBody>
      </p:sp>
      <p:sp>
        <p:nvSpPr>
          <p:cNvPr id="140" name="Text 3"/>
          <p:cNvSpPr txBox="1"/>
          <p:nvPr/>
        </p:nvSpPr>
        <p:spPr>
          <a:xfrm>
            <a:off x="548640" y="6524752"/>
            <a:ext cx="64008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666666"/>
                </a:solidFill>
              </a:defRPr>
            </a:lvl1pPr>
          </a:lstStyle>
          <a:p>
            <a:pPr/>
            <a:r>
              <a:t>Team 4  |  The Zen of Five  </a:t>
            </a:r>
          </a:p>
        </p:txBody>
      </p:sp>
      <p:sp>
        <p:nvSpPr>
          <p:cNvPr id="141" name="Text 4"/>
          <p:cNvSpPr txBox="1"/>
          <p:nvPr/>
        </p:nvSpPr>
        <p:spPr>
          <a:xfrm>
            <a:off x="11094415" y="6524752"/>
            <a:ext cx="54864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900">
                <a:solidFill>
                  <a:srgbClr val="666666"/>
                </a:solidFill>
              </a:defRPr>
            </a:lvl1pPr>
          </a:lstStyle>
          <a:p>
            <a:pPr/>
            <a:r>
              <a:t>3</a:t>
            </a:r>
          </a:p>
        </p:txBody>
      </p:sp>
      <p:sp>
        <p:nvSpPr>
          <p:cNvPr id="142" name="Shape 5"/>
          <p:cNvSpPr/>
          <p:nvPr/>
        </p:nvSpPr>
        <p:spPr>
          <a:xfrm>
            <a:off x="548640" y="1680566"/>
            <a:ext cx="3538729" cy="4709161"/>
          </a:xfrm>
          <a:prstGeom prst="roundRect">
            <a:avLst>
              <a:gd name="adj" fmla="val 2584"/>
            </a:avLst>
          </a:prstGeom>
          <a:solidFill>
            <a:srgbClr val="F6FAFD"/>
          </a:solidFill>
          <a:ln w="12700">
            <a:miter lim="400000"/>
          </a:ln>
        </p:spPr>
        <p:txBody>
          <a:bodyPr lIns="45719" rIns="45719"/>
          <a:lstStyle/>
          <a:p>
            <a:pPr/>
          </a:p>
        </p:txBody>
      </p:sp>
      <p:sp>
        <p:nvSpPr>
          <p:cNvPr id="143" name="Shape 6"/>
          <p:cNvSpPr/>
          <p:nvPr/>
        </p:nvSpPr>
        <p:spPr>
          <a:xfrm>
            <a:off x="548639" y="1437639"/>
            <a:ext cx="3538730" cy="384049"/>
          </a:xfrm>
          <a:prstGeom prst="rect">
            <a:avLst/>
          </a:prstGeom>
          <a:solidFill>
            <a:srgbClr val="356A90"/>
          </a:solidFill>
          <a:ln w="12700">
            <a:miter lim="400000"/>
          </a:ln>
        </p:spPr>
        <p:txBody>
          <a:bodyPr lIns="45719" rIns="45719"/>
          <a:lstStyle/>
          <a:p>
            <a:pPr/>
          </a:p>
        </p:txBody>
      </p:sp>
      <p:sp>
        <p:nvSpPr>
          <p:cNvPr id="144" name="Text 7"/>
          <p:cNvSpPr txBox="1"/>
          <p:nvPr/>
        </p:nvSpPr>
        <p:spPr>
          <a:xfrm>
            <a:off x="548639" y="1543256"/>
            <a:ext cx="3538730" cy="17281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pc="200" sz="1200">
                <a:solidFill>
                  <a:srgbClr val="FFFFFF"/>
                </a:solidFill>
              </a:defRPr>
            </a:lvl1pPr>
          </a:lstStyle>
          <a:p>
            <a:pPr/>
            <a:r>
              <a:t>DESCRIPTIVE</a:t>
            </a:r>
          </a:p>
        </p:txBody>
      </p:sp>
      <p:sp>
        <p:nvSpPr>
          <p:cNvPr id="145" name="Shape 8"/>
          <p:cNvSpPr/>
          <p:nvPr/>
        </p:nvSpPr>
        <p:spPr>
          <a:xfrm>
            <a:off x="4288535" y="1691639"/>
            <a:ext cx="3538730" cy="4709161"/>
          </a:xfrm>
          <a:prstGeom prst="roundRect">
            <a:avLst>
              <a:gd name="adj" fmla="val 2584"/>
            </a:avLst>
          </a:prstGeom>
          <a:solidFill>
            <a:srgbClr val="F6FAFD"/>
          </a:solidFill>
          <a:ln w="12700">
            <a:miter lim="400000"/>
          </a:ln>
        </p:spPr>
        <p:txBody>
          <a:bodyPr lIns="45719" rIns="45719"/>
          <a:lstStyle/>
          <a:p>
            <a:pPr/>
          </a:p>
        </p:txBody>
      </p:sp>
      <p:sp>
        <p:nvSpPr>
          <p:cNvPr id="146" name="Shape 9"/>
          <p:cNvSpPr/>
          <p:nvPr/>
        </p:nvSpPr>
        <p:spPr>
          <a:xfrm>
            <a:off x="4288535" y="1424939"/>
            <a:ext cx="3538730" cy="384049"/>
          </a:xfrm>
          <a:prstGeom prst="rect">
            <a:avLst/>
          </a:prstGeom>
          <a:solidFill>
            <a:srgbClr val="2F5C7E"/>
          </a:solidFill>
          <a:ln w="12700">
            <a:miter lim="400000"/>
          </a:ln>
        </p:spPr>
        <p:txBody>
          <a:bodyPr lIns="45719" rIns="45719"/>
          <a:lstStyle/>
          <a:p>
            <a:pPr/>
          </a:p>
        </p:txBody>
      </p:sp>
      <p:sp>
        <p:nvSpPr>
          <p:cNvPr id="147" name="Text 10"/>
          <p:cNvSpPr txBox="1"/>
          <p:nvPr/>
        </p:nvSpPr>
        <p:spPr>
          <a:xfrm>
            <a:off x="4288535" y="1543256"/>
            <a:ext cx="3538730" cy="17281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pc="200" sz="1200">
                <a:solidFill>
                  <a:srgbClr val="FFFFFF"/>
                </a:solidFill>
              </a:defRPr>
            </a:lvl1pPr>
          </a:lstStyle>
          <a:p>
            <a:pPr/>
            <a:r>
              <a:t>PRESCRIPTIVE</a:t>
            </a:r>
          </a:p>
        </p:txBody>
      </p:sp>
      <p:sp>
        <p:nvSpPr>
          <p:cNvPr id="148" name="Shape 11"/>
          <p:cNvSpPr/>
          <p:nvPr/>
        </p:nvSpPr>
        <p:spPr>
          <a:xfrm>
            <a:off x="8028431" y="1691639"/>
            <a:ext cx="3538729" cy="4709161"/>
          </a:xfrm>
          <a:prstGeom prst="roundRect">
            <a:avLst>
              <a:gd name="adj" fmla="val 2584"/>
            </a:avLst>
          </a:prstGeom>
          <a:solidFill>
            <a:srgbClr val="F6FAFD"/>
          </a:solidFill>
          <a:ln w="12700">
            <a:miter lim="400000"/>
          </a:ln>
        </p:spPr>
        <p:txBody>
          <a:bodyPr lIns="45719" rIns="45719"/>
          <a:lstStyle/>
          <a:p>
            <a:pPr/>
          </a:p>
        </p:txBody>
      </p:sp>
      <p:sp>
        <p:nvSpPr>
          <p:cNvPr id="149" name="Shape 12"/>
          <p:cNvSpPr/>
          <p:nvPr/>
        </p:nvSpPr>
        <p:spPr>
          <a:xfrm>
            <a:off x="8028431" y="1437639"/>
            <a:ext cx="3538729" cy="384049"/>
          </a:xfrm>
          <a:prstGeom prst="rect">
            <a:avLst/>
          </a:prstGeom>
          <a:solidFill>
            <a:srgbClr val="24445E"/>
          </a:solidFill>
          <a:ln w="12700">
            <a:miter lim="400000"/>
          </a:ln>
        </p:spPr>
        <p:txBody>
          <a:bodyPr lIns="45719" rIns="45719"/>
          <a:lstStyle/>
          <a:p>
            <a:pPr/>
          </a:p>
        </p:txBody>
      </p:sp>
      <p:sp>
        <p:nvSpPr>
          <p:cNvPr id="150" name="Text 13"/>
          <p:cNvSpPr txBox="1"/>
          <p:nvPr/>
        </p:nvSpPr>
        <p:spPr>
          <a:xfrm>
            <a:off x="8028431" y="1517856"/>
            <a:ext cx="3538729" cy="17281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pc="200" sz="1200">
                <a:solidFill>
                  <a:srgbClr val="FFFFFF"/>
                </a:solidFill>
              </a:defRPr>
            </a:lvl1pPr>
          </a:lstStyle>
          <a:p>
            <a:pPr/>
            <a:r>
              <a:t>PREDICTIVE</a:t>
            </a:r>
          </a:p>
        </p:txBody>
      </p:sp>
      <p:sp>
        <p:nvSpPr>
          <p:cNvPr id="151" name="Shape 15"/>
          <p:cNvSpPr/>
          <p:nvPr/>
        </p:nvSpPr>
        <p:spPr>
          <a:xfrm>
            <a:off x="731519" y="3566159"/>
            <a:ext cx="3172969" cy="1"/>
          </a:xfrm>
          <a:prstGeom prst="line">
            <a:avLst/>
          </a:prstGeom>
          <a:ln>
            <a:solidFill>
              <a:srgbClr val="A9A9B3"/>
            </a:solidFill>
          </a:ln>
        </p:spPr>
        <p:txBody>
          <a:bodyPr lIns="45719" rIns="45719"/>
          <a:lstStyle/>
          <a:p>
            <a:pPr/>
          </a:p>
        </p:txBody>
      </p:sp>
      <p:sp>
        <p:nvSpPr>
          <p:cNvPr id="152" name="Shape 16"/>
          <p:cNvSpPr/>
          <p:nvPr/>
        </p:nvSpPr>
        <p:spPr>
          <a:xfrm>
            <a:off x="919168" y="3435796"/>
            <a:ext cx="682361" cy="130365"/>
          </a:xfrm>
          <a:prstGeom prst="rect">
            <a:avLst/>
          </a:prstGeom>
          <a:solidFill>
            <a:srgbClr val="B9D6EA"/>
          </a:solidFill>
          <a:ln w="12700">
            <a:miter lim="400000"/>
          </a:ln>
        </p:spPr>
        <p:txBody>
          <a:bodyPr lIns="45719" rIns="45719"/>
          <a:lstStyle/>
          <a:p>
            <a:pPr/>
          </a:p>
        </p:txBody>
      </p:sp>
      <p:sp>
        <p:nvSpPr>
          <p:cNvPr id="153" name="Text 17"/>
          <p:cNvSpPr txBox="1"/>
          <p:nvPr/>
        </p:nvSpPr>
        <p:spPr>
          <a:xfrm>
            <a:off x="690568" y="3281364"/>
            <a:ext cx="113956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lgn="ctr">
              <a:defRPr b="1" sz="900">
                <a:solidFill>
                  <a:srgbClr val="1B3345"/>
                </a:solidFill>
              </a:defRPr>
            </a:lvl1pPr>
          </a:lstStyle>
          <a:p>
            <a:pPr/>
            <a:r>
              <a:t>7.0%</a:t>
            </a:r>
          </a:p>
        </p:txBody>
      </p:sp>
      <p:sp>
        <p:nvSpPr>
          <p:cNvPr id="154" name="Text 18"/>
          <p:cNvSpPr txBox="1"/>
          <p:nvPr/>
        </p:nvSpPr>
        <p:spPr>
          <a:xfrm>
            <a:off x="731519" y="3602735"/>
            <a:ext cx="1057657"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800">
                <a:solidFill>
                  <a:srgbClr val="1B3345"/>
                </a:solidFill>
              </a:defRPr>
            </a:lvl1pPr>
          </a:lstStyle>
          <a:p>
            <a:pPr/>
            <a:r>
              <a:t>28d</a:t>
            </a:r>
          </a:p>
        </p:txBody>
      </p:sp>
      <p:sp>
        <p:nvSpPr>
          <p:cNvPr id="155" name="Shape 19"/>
          <p:cNvSpPr/>
          <p:nvPr/>
        </p:nvSpPr>
        <p:spPr>
          <a:xfrm>
            <a:off x="1976825" y="3102310"/>
            <a:ext cx="682360" cy="463850"/>
          </a:xfrm>
          <a:prstGeom prst="rect">
            <a:avLst/>
          </a:prstGeom>
          <a:solidFill>
            <a:srgbClr val="5B93BA"/>
          </a:solidFill>
          <a:ln w="12700">
            <a:miter lim="400000"/>
          </a:ln>
        </p:spPr>
        <p:txBody>
          <a:bodyPr lIns="45719" rIns="45719"/>
          <a:lstStyle/>
          <a:p>
            <a:pPr/>
          </a:p>
        </p:txBody>
      </p:sp>
      <p:sp>
        <p:nvSpPr>
          <p:cNvPr id="156" name="Text 20"/>
          <p:cNvSpPr txBox="1"/>
          <p:nvPr/>
        </p:nvSpPr>
        <p:spPr>
          <a:xfrm>
            <a:off x="1748225" y="2947878"/>
            <a:ext cx="113956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lgn="ctr">
              <a:defRPr b="1" sz="900">
                <a:solidFill>
                  <a:srgbClr val="1B3345"/>
                </a:solidFill>
              </a:defRPr>
            </a:lvl1pPr>
          </a:lstStyle>
          <a:p>
            <a:pPr/>
            <a:r>
              <a:t>24.8%</a:t>
            </a:r>
          </a:p>
        </p:txBody>
      </p:sp>
      <p:sp>
        <p:nvSpPr>
          <p:cNvPr id="157" name="Text 21"/>
          <p:cNvSpPr txBox="1"/>
          <p:nvPr/>
        </p:nvSpPr>
        <p:spPr>
          <a:xfrm>
            <a:off x="1789176" y="3602735"/>
            <a:ext cx="1057657"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800">
                <a:solidFill>
                  <a:srgbClr val="1B3345"/>
                </a:solidFill>
              </a:defRPr>
            </a:lvl1pPr>
          </a:lstStyle>
          <a:p>
            <a:pPr/>
            <a:r>
              <a:t>3mo</a:t>
            </a:r>
          </a:p>
        </p:txBody>
      </p:sp>
      <p:sp>
        <p:nvSpPr>
          <p:cNvPr id="158" name="Shape 22"/>
          <p:cNvSpPr/>
          <p:nvPr/>
        </p:nvSpPr>
        <p:spPr>
          <a:xfrm>
            <a:off x="3034481" y="2846070"/>
            <a:ext cx="682360" cy="720091"/>
          </a:xfrm>
          <a:prstGeom prst="rect">
            <a:avLst/>
          </a:prstGeom>
          <a:solidFill>
            <a:srgbClr val="24445E"/>
          </a:solidFill>
          <a:ln w="12700">
            <a:miter lim="400000"/>
          </a:ln>
        </p:spPr>
        <p:txBody>
          <a:bodyPr lIns="45719" rIns="45719"/>
          <a:lstStyle/>
          <a:p>
            <a:pPr/>
          </a:p>
        </p:txBody>
      </p:sp>
      <p:sp>
        <p:nvSpPr>
          <p:cNvPr id="159" name="Text 23"/>
          <p:cNvSpPr txBox="1"/>
          <p:nvPr/>
        </p:nvSpPr>
        <p:spPr>
          <a:xfrm>
            <a:off x="2805881" y="2691638"/>
            <a:ext cx="113956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lgn="ctr">
              <a:defRPr b="1" sz="900">
                <a:solidFill>
                  <a:srgbClr val="1B3345"/>
                </a:solidFill>
              </a:defRPr>
            </a:lvl1pPr>
          </a:lstStyle>
          <a:p>
            <a:pPr/>
            <a:r>
              <a:t>38.5%</a:t>
            </a:r>
          </a:p>
        </p:txBody>
      </p:sp>
      <p:sp>
        <p:nvSpPr>
          <p:cNvPr id="160" name="Text 24"/>
          <p:cNvSpPr txBox="1"/>
          <p:nvPr/>
        </p:nvSpPr>
        <p:spPr>
          <a:xfrm>
            <a:off x="2846832" y="3602735"/>
            <a:ext cx="1057657"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800">
                <a:solidFill>
                  <a:srgbClr val="1B3345"/>
                </a:solidFill>
              </a:defRPr>
            </a:lvl1pPr>
          </a:lstStyle>
          <a:p>
            <a:pPr/>
            <a:r>
              <a:t>6mo</a:t>
            </a:r>
          </a:p>
        </p:txBody>
      </p:sp>
      <p:sp>
        <p:nvSpPr>
          <p:cNvPr id="161" name="Text 25"/>
          <p:cNvSpPr txBox="1"/>
          <p:nvPr/>
        </p:nvSpPr>
        <p:spPr>
          <a:xfrm>
            <a:off x="731519" y="4023359"/>
            <a:ext cx="3172969" cy="60503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marL="110289" indent="-110289">
              <a:buSzPct val="100000"/>
              <a:buChar char="•"/>
              <a:defRPr sz="1100">
                <a:solidFill>
                  <a:srgbClr val="1B3345"/>
                </a:solidFill>
              </a:defRPr>
            </a:lvl1pPr>
          </a:lstStyle>
          <a:p>
            <a:pPr>
              <a:defRPr b="1">
                <a:solidFill>
                  <a:srgbClr val="356A90"/>
                </a:solidFill>
              </a:defRPr>
            </a:pPr>
            <a:r>
              <a:rPr b="0">
                <a:solidFill>
                  <a:srgbClr val="1B3345"/>
                </a:solidFill>
              </a:rPr>
              <a:t>These are mostly older, sicker patients  not people catching heart failure early, but ones whose hearts are already struggling on both sides</a:t>
            </a:r>
          </a:p>
        </p:txBody>
      </p:sp>
      <p:sp>
        <p:nvSpPr>
          <p:cNvPr id="162" name="Text 26"/>
          <p:cNvSpPr txBox="1"/>
          <p:nvPr/>
        </p:nvSpPr>
        <p:spPr>
          <a:xfrm>
            <a:off x="731519" y="4717288"/>
            <a:ext cx="3172969" cy="45263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marL="110289" indent="-110289">
              <a:buSzPct val="100000"/>
              <a:buChar char="•"/>
              <a:defRPr sz="1100">
                <a:solidFill>
                  <a:srgbClr val="1B3345"/>
                </a:solidFill>
              </a:defRPr>
            </a:lvl1pPr>
          </a:lstStyle>
          <a:p>
            <a:pPr>
              <a:defRPr b="1">
                <a:solidFill>
                  <a:srgbClr val="356A90"/>
                </a:solidFill>
              </a:defRPr>
            </a:pPr>
            <a:r>
              <a:rPr b="0">
                <a:solidFill>
                  <a:srgbClr val="1B3345"/>
                </a:solidFill>
              </a:rPr>
              <a:t>Most patients showed up already quite limited getting short of breath with light activity or even at rest</a:t>
            </a:r>
          </a:p>
        </p:txBody>
      </p:sp>
      <p:sp>
        <p:nvSpPr>
          <p:cNvPr id="163" name="Text 27"/>
          <p:cNvSpPr txBox="1"/>
          <p:nvPr/>
        </p:nvSpPr>
        <p:spPr>
          <a:xfrm>
            <a:off x="731519" y="5400142"/>
            <a:ext cx="3172969" cy="64229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marL="110289" indent="-110289">
              <a:buSzPct val="100000"/>
              <a:buChar char="•"/>
              <a:defRPr sz="1100">
                <a:solidFill>
                  <a:srgbClr val="1B3345"/>
                </a:solidFill>
              </a:defRPr>
            </a:lvl1pPr>
          </a:lstStyle>
          <a:p>
            <a:pPr>
              <a:defRPr b="1">
                <a:solidFill>
                  <a:srgbClr val="356A90"/>
                </a:solidFill>
              </a:defRPr>
            </a:pPr>
            <a:r>
              <a:rPr b="0">
                <a:solidFill>
                  <a:srgbClr val="1B3345"/>
                </a:solidFill>
              </a:rPr>
              <a:t>Low sodium levels early on turned out to be a warning sign, it showed up more often in patients who later died than in those who survived</a:t>
            </a:r>
            <a:endParaRPr b="0">
              <a:solidFill>
                <a:srgbClr val="1B3345"/>
              </a:solidFill>
            </a:endParaRPr>
          </a:p>
        </p:txBody>
      </p:sp>
      <p:sp>
        <p:nvSpPr>
          <p:cNvPr id="164" name="Shape 29"/>
          <p:cNvSpPr/>
          <p:nvPr/>
        </p:nvSpPr>
        <p:spPr>
          <a:xfrm>
            <a:off x="4347464" y="2448560"/>
            <a:ext cx="3319272" cy="914401"/>
          </a:xfrm>
          <a:prstGeom prst="roundRect">
            <a:avLst>
              <a:gd name="adj" fmla="val 10000"/>
            </a:avLst>
          </a:prstGeom>
          <a:solidFill>
            <a:srgbClr val="356A90"/>
          </a:solidFill>
          <a:ln w="12700">
            <a:miter lim="400000"/>
          </a:ln>
        </p:spPr>
        <p:txBody>
          <a:bodyPr lIns="45719" rIns="45719"/>
          <a:lstStyle/>
          <a:p>
            <a:pPr/>
          </a:p>
        </p:txBody>
      </p:sp>
      <p:sp>
        <p:nvSpPr>
          <p:cNvPr id="165" name="Text 30"/>
          <p:cNvSpPr txBox="1"/>
          <p:nvPr/>
        </p:nvSpPr>
        <p:spPr>
          <a:xfrm>
            <a:off x="4482591" y="2504831"/>
            <a:ext cx="3099817" cy="27150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900">
                <a:solidFill>
                  <a:srgbClr val="FFFFFF"/>
                </a:solidFill>
              </a:defRPr>
            </a:lvl1pPr>
          </a:lstStyle>
          <a:p>
            <a:pPr/>
            <a:r>
              <a:t>68.5%</a:t>
            </a:r>
          </a:p>
        </p:txBody>
      </p:sp>
      <p:sp>
        <p:nvSpPr>
          <p:cNvPr id="166" name="Text 31"/>
          <p:cNvSpPr txBox="1"/>
          <p:nvPr/>
        </p:nvSpPr>
        <p:spPr>
          <a:xfrm>
            <a:off x="4482591" y="2814320"/>
            <a:ext cx="3099817" cy="25026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EBF3F9"/>
                </a:solidFill>
              </a:defRPr>
            </a:lvl1pPr>
          </a:lstStyle>
          <a:p>
            <a:pPr/>
            <a:r>
              <a:t>Complete the 3-drug HF kit before discharge (100 of 146 HFrEF patients miss a class)</a:t>
            </a:r>
          </a:p>
        </p:txBody>
      </p:sp>
      <p:sp>
        <p:nvSpPr>
          <p:cNvPr id="167" name="Text 37"/>
          <p:cNvSpPr txBox="1"/>
          <p:nvPr/>
        </p:nvSpPr>
        <p:spPr>
          <a:xfrm>
            <a:off x="4342891" y="4715764"/>
            <a:ext cx="3099817" cy="30023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marL="110289" indent="-110289">
              <a:buSzPct val="100000"/>
              <a:buChar char="•"/>
              <a:defRPr sz="1100">
                <a:solidFill>
                  <a:srgbClr val="1B3345"/>
                </a:solidFill>
              </a:defRPr>
            </a:lvl1pPr>
          </a:lstStyle>
          <a:p>
            <a:pPr/>
            <a:r>
              <a:t>Many patients with weakened hearts are being sent home without the full standard medication </a:t>
            </a:r>
          </a:p>
        </p:txBody>
      </p:sp>
      <p:sp>
        <p:nvSpPr>
          <p:cNvPr id="168" name="Text 41"/>
          <p:cNvSpPr txBox="1"/>
          <p:nvPr/>
        </p:nvSpPr>
        <p:spPr>
          <a:xfrm>
            <a:off x="8193023" y="2259076"/>
            <a:ext cx="320954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2F5C7E"/>
                </a:solidFill>
              </a:defRPr>
            </a:lvl1pPr>
          </a:lstStyle>
          <a:p>
            <a:pPr/>
            <a:r>
              <a:t>Best model AUC by outcome type</a:t>
            </a:r>
          </a:p>
        </p:txBody>
      </p:sp>
      <p:sp>
        <p:nvSpPr>
          <p:cNvPr id="169" name="Shape 42"/>
          <p:cNvSpPr/>
          <p:nvPr/>
        </p:nvSpPr>
        <p:spPr>
          <a:xfrm>
            <a:off x="9445752" y="2496312"/>
            <a:ext cx="1" cy="1417320"/>
          </a:xfrm>
          <a:prstGeom prst="line">
            <a:avLst/>
          </a:prstGeom>
          <a:ln>
            <a:solidFill>
              <a:srgbClr val="A9A9B3"/>
            </a:solidFill>
          </a:ln>
        </p:spPr>
        <p:txBody>
          <a:bodyPr lIns="45719" rIns="45719"/>
          <a:lstStyle/>
          <a:p>
            <a:pPr/>
          </a:p>
        </p:txBody>
      </p:sp>
      <p:sp>
        <p:nvSpPr>
          <p:cNvPr id="170" name="Text 43"/>
          <p:cNvSpPr txBox="1"/>
          <p:nvPr/>
        </p:nvSpPr>
        <p:spPr>
          <a:xfrm>
            <a:off x="8211311" y="2574544"/>
            <a:ext cx="116128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800">
                <a:solidFill>
                  <a:srgbClr val="1B3345"/>
                </a:solidFill>
              </a:defRPr>
            </a:lvl1pPr>
          </a:lstStyle>
          <a:p>
            <a:pPr/>
            <a:r>
              <a:t>CKD diagnosis</a:t>
            </a:r>
          </a:p>
        </p:txBody>
      </p:sp>
      <p:sp>
        <p:nvSpPr>
          <p:cNvPr id="171" name="Shape 44"/>
          <p:cNvSpPr/>
          <p:nvPr/>
        </p:nvSpPr>
        <p:spPr>
          <a:xfrm>
            <a:off x="9445752" y="2540298"/>
            <a:ext cx="1238720" cy="195493"/>
          </a:xfrm>
          <a:prstGeom prst="rect">
            <a:avLst/>
          </a:prstGeom>
          <a:solidFill>
            <a:srgbClr val="356A90"/>
          </a:solidFill>
          <a:ln w="12700">
            <a:miter lim="400000"/>
          </a:ln>
        </p:spPr>
        <p:txBody>
          <a:bodyPr lIns="45719" rIns="45719"/>
          <a:lstStyle/>
          <a:p>
            <a:pPr/>
          </a:p>
        </p:txBody>
      </p:sp>
      <p:sp>
        <p:nvSpPr>
          <p:cNvPr id="172" name="Text 45"/>
          <p:cNvSpPr txBox="1"/>
          <p:nvPr/>
        </p:nvSpPr>
        <p:spPr>
          <a:xfrm>
            <a:off x="10730190" y="2574544"/>
            <a:ext cx="64008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800">
                <a:solidFill>
                  <a:srgbClr val="1B3345"/>
                </a:solidFill>
              </a:defRPr>
            </a:lvl1pPr>
          </a:lstStyle>
          <a:p>
            <a:pPr/>
            <a:r>
              <a:t>95.4%</a:t>
            </a:r>
          </a:p>
        </p:txBody>
      </p:sp>
      <p:sp>
        <p:nvSpPr>
          <p:cNvPr id="173" name="Text 46"/>
          <p:cNvSpPr txBox="1"/>
          <p:nvPr/>
        </p:nvSpPr>
        <p:spPr>
          <a:xfrm>
            <a:off x="8211311" y="2858007"/>
            <a:ext cx="116128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800">
                <a:solidFill>
                  <a:srgbClr val="1B3345"/>
                </a:solidFill>
              </a:defRPr>
            </a:lvl1pPr>
          </a:lstStyle>
          <a:p>
            <a:pPr/>
            <a:r>
              <a:t>MI diagnosis</a:t>
            </a:r>
          </a:p>
        </p:txBody>
      </p:sp>
      <p:sp>
        <p:nvSpPr>
          <p:cNvPr id="174" name="Shape 47"/>
          <p:cNvSpPr/>
          <p:nvPr/>
        </p:nvSpPr>
        <p:spPr>
          <a:xfrm>
            <a:off x="9445752" y="2823761"/>
            <a:ext cx="1091996" cy="195493"/>
          </a:xfrm>
          <a:prstGeom prst="rect">
            <a:avLst/>
          </a:prstGeom>
          <a:solidFill>
            <a:srgbClr val="356A90"/>
          </a:solidFill>
          <a:ln w="12700">
            <a:miter lim="400000"/>
          </a:ln>
        </p:spPr>
        <p:txBody>
          <a:bodyPr lIns="45719" rIns="45719"/>
          <a:lstStyle/>
          <a:p>
            <a:pPr/>
          </a:p>
        </p:txBody>
      </p:sp>
      <p:sp>
        <p:nvSpPr>
          <p:cNvPr id="175" name="Text 48"/>
          <p:cNvSpPr txBox="1"/>
          <p:nvPr/>
        </p:nvSpPr>
        <p:spPr>
          <a:xfrm>
            <a:off x="10583467" y="2858007"/>
            <a:ext cx="64008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800">
                <a:solidFill>
                  <a:srgbClr val="1B3345"/>
                </a:solidFill>
              </a:defRPr>
            </a:lvl1pPr>
          </a:lstStyle>
          <a:p>
            <a:pPr/>
            <a:r>
              <a:t>84.1%</a:t>
            </a:r>
          </a:p>
        </p:txBody>
      </p:sp>
      <p:sp>
        <p:nvSpPr>
          <p:cNvPr id="176" name="Text 49"/>
          <p:cNvSpPr txBox="1"/>
          <p:nvPr/>
        </p:nvSpPr>
        <p:spPr>
          <a:xfrm>
            <a:off x="8211311" y="3141472"/>
            <a:ext cx="116128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800">
                <a:solidFill>
                  <a:srgbClr val="1B3345"/>
                </a:solidFill>
              </a:defRPr>
            </a:lvl1pPr>
          </a:lstStyle>
          <a:p>
            <a:pPr/>
            <a:r>
              <a:t>28d mortality</a:t>
            </a:r>
          </a:p>
        </p:txBody>
      </p:sp>
      <p:sp>
        <p:nvSpPr>
          <p:cNvPr id="177" name="Shape 50"/>
          <p:cNvSpPr/>
          <p:nvPr/>
        </p:nvSpPr>
        <p:spPr>
          <a:xfrm>
            <a:off x="9445752" y="3107226"/>
            <a:ext cx="1290658" cy="195493"/>
          </a:xfrm>
          <a:prstGeom prst="rect">
            <a:avLst/>
          </a:prstGeom>
          <a:solidFill>
            <a:srgbClr val="356A90"/>
          </a:solidFill>
          <a:ln w="12700">
            <a:miter lim="400000"/>
          </a:ln>
        </p:spPr>
        <p:txBody>
          <a:bodyPr lIns="45719" rIns="45719"/>
          <a:lstStyle/>
          <a:p>
            <a:pPr/>
          </a:p>
        </p:txBody>
      </p:sp>
      <p:sp>
        <p:nvSpPr>
          <p:cNvPr id="178" name="Text 51"/>
          <p:cNvSpPr txBox="1"/>
          <p:nvPr/>
        </p:nvSpPr>
        <p:spPr>
          <a:xfrm>
            <a:off x="10782128" y="3141472"/>
            <a:ext cx="64008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800">
                <a:solidFill>
                  <a:srgbClr val="1B3345"/>
                </a:solidFill>
              </a:defRPr>
            </a:lvl1pPr>
          </a:lstStyle>
          <a:p>
            <a:pPr/>
            <a:r>
              <a:t>99.4%</a:t>
            </a:r>
          </a:p>
        </p:txBody>
      </p:sp>
      <p:sp>
        <p:nvSpPr>
          <p:cNvPr id="179" name="Text 52"/>
          <p:cNvSpPr txBox="1"/>
          <p:nvPr/>
        </p:nvSpPr>
        <p:spPr>
          <a:xfrm>
            <a:off x="8211311" y="3424935"/>
            <a:ext cx="116128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800">
                <a:solidFill>
                  <a:srgbClr val="1B3345"/>
                </a:solidFill>
              </a:defRPr>
            </a:lvl1pPr>
          </a:lstStyle>
          <a:p>
            <a:pPr/>
            <a:r>
              <a:t>Readmission</a:t>
            </a:r>
          </a:p>
        </p:txBody>
      </p:sp>
      <p:sp>
        <p:nvSpPr>
          <p:cNvPr id="180" name="Shape 53"/>
          <p:cNvSpPr/>
          <p:nvPr/>
        </p:nvSpPr>
        <p:spPr>
          <a:xfrm>
            <a:off x="9445752" y="3390689"/>
            <a:ext cx="831008" cy="195493"/>
          </a:xfrm>
          <a:prstGeom prst="rect">
            <a:avLst/>
          </a:prstGeom>
          <a:solidFill>
            <a:srgbClr val="B9D6EA"/>
          </a:solidFill>
          <a:ln w="12700">
            <a:miter lim="400000"/>
          </a:ln>
        </p:spPr>
        <p:txBody>
          <a:bodyPr lIns="45719" rIns="45719"/>
          <a:lstStyle/>
          <a:p>
            <a:pPr/>
          </a:p>
        </p:txBody>
      </p:sp>
      <p:sp>
        <p:nvSpPr>
          <p:cNvPr id="181" name="Text 54"/>
          <p:cNvSpPr txBox="1"/>
          <p:nvPr/>
        </p:nvSpPr>
        <p:spPr>
          <a:xfrm>
            <a:off x="10322479" y="3424935"/>
            <a:ext cx="64008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800">
                <a:solidFill>
                  <a:srgbClr val="1B3345"/>
                </a:solidFill>
              </a:defRPr>
            </a:lvl1pPr>
          </a:lstStyle>
          <a:p>
            <a:pPr/>
            <a:r>
              <a:t>64.0%</a:t>
            </a:r>
          </a:p>
        </p:txBody>
      </p:sp>
      <p:sp>
        <p:nvSpPr>
          <p:cNvPr id="182" name="Text 55"/>
          <p:cNvSpPr txBox="1"/>
          <p:nvPr/>
        </p:nvSpPr>
        <p:spPr>
          <a:xfrm>
            <a:off x="8211311" y="3708399"/>
            <a:ext cx="116128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800">
                <a:solidFill>
                  <a:srgbClr val="1B3345"/>
                </a:solidFill>
              </a:defRPr>
            </a:lvl1pPr>
          </a:lstStyle>
          <a:p>
            <a:pPr/>
            <a:r>
              <a:t>ED return</a:t>
            </a:r>
          </a:p>
        </p:txBody>
      </p:sp>
      <p:sp>
        <p:nvSpPr>
          <p:cNvPr id="183" name="Shape 56"/>
          <p:cNvSpPr/>
          <p:nvPr/>
        </p:nvSpPr>
        <p:spPr>
          <a:xfrm>
            <a:off x="9445752" y="3674154"/>
            <a:ext cx="871260" cy="195493"/>
          </a:xfrm>
          <a:prstGeom prst="rect">
            <a:avLst/>
          </a:prstGeom>
          <a:solidFill>
            <a:srgbClr val="B9D6EA"/>
          </a:solidFill>
          <a:ln w="12700">
            <a:miter lim="400000"/>
          </a:ln>
        </p:spPr>
        <p:txBody>
          <a:bodyPr lIns="45719" rIns="45719"/>
          <a:lstStyle/>
          <a:p>
            <a:pPr/>
          </a:p>
        </p:txBody>
      </p:sp>
      <p:sp>
        <p:nvSpPr>
          <p:cNvPr id="184" name="Text 57"/>
          <p:cNvSpPr txBox="1"/>
          <p:nvPr/>
        </p:nvSpPr>
        <p:spPr>
          <a:xfrm>
            <a:off x="10362731" y="3708399"/>
            <a:ext cx="64008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800">
                <a:solidFill>
                  <a:srgbClr val="1B3345"/>
                </a:solidFill>
              </a:defRPr>
            </a:lvl1pPr>
          </a:lstStyle>
          <a:p>
            <a:pPr/>
            <a:r>
              <a:t>67.1%</a:t>
            </a:r>
          </a:p>
        </p:txBody>
      </p:sp>
      <p:sp>
        <p:nvSpPr>
          <p:cNvPr id="185" name="Text 58"/>
          <p:cNvSpPr txBox="1"/>
          <p:nvPr/>
        </p:nvSpPr>
        <p:spPr>
          <a:xfrm>
            <a:off x="8211311" y="4147820"/>
            <a:ext cx="3172969" cy="41494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marL="100263" indent="-100263">
              <a:buSzPct val="100000"/>
              <a:buChar char="•"/>
              <a:defRPr sz="1000">
                <a:solidFill>
                  <a:srgbClr val="1B3345"/>
                </a:solidFill>
              </a:defRPr>
            </a:lvl1pPr>
          </a:lstStyle>
          <a:p>
            <a:pPr>
              <a:defRPr b="1">
                <a:solidFill>
                  <a:srgbClr val="356A90"/>
                </a:solidFill>
              </a:defRPr>
            </a:pPr>
            <a:r>
              <a:rPr b="0">
                <a:solidFill>
                  <a:srgbClr val="1B3345"/>
                </a:solidFill>
              </a:rPr>
              <a:t>The information collected on day one genuinely helps forecast the future it's not random guessing, there's a real pattern there</a:t>
            </a:r>
          </a:p>
        </p:txBody>
      </p:sp>
      <p:sp>
        <p:nvSpPr>
          <p:cNvPr id="186" name="Text 59"/>
          <p:cNvSpPr txBox="1"/>
          <p:nvPr/>
        </p:nvSpPr>
        <p:spPr>
          <a:xfrm>
            <a:off x="8211311" y="4740147"/>
            <a:ext cx="3172969" cy="41494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marL="100263" indent="-100263">
              <a:buSzPct val="100000"/>
              <a:buChar char="•"/>
              <a:defRPr sz="1000">
                <a:solidFill>
                  <a:srgbClr val="1B3345"/>
                </a:solidFill>
              </a:defRPr>
            </a:lvl1pPr>
          </a:lstStyle>
          <a:p>
            <a:pPr>
              <a:defRPr b="1">
                <a:solidFill>
                  <a:srgbClr val="356A90"/>
                </a:solidFill>
              </a:defRPr>
            </a:pPr>
            <a:r>
              <a:rPr b="0">
                <a:solidFill>
                  <a:srgbClr val="1B3345"/>
                </a:solidFill>
              </a:rPr>
              <a:t>We're good at predicting a diagnosis or whether someone will pass away within a month — the data speaks clearly there</a:t>
            </a:r>
          </a:p>
        </p:txBody>
      </p:sp>
      <p:sp>
        <p:nvSpPr>
          <p:cNvPr id="187" name="Text 61"/>
          <p:cNvSpPr txBox="1"/>
          <p:nvPr/>
        </p:nvSpPr>
        <p:spPr>
          <a:xfrm>
            <a:off x="8211311" y="5429503"/>
            <a:ext cx="3172969" cy="55464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marL="100263" indent="-100263">
              <a:buSzPct val="100000"/>
              <a:buChar char="•"/>
              <a:defRPr sz="1000">
                <a:solidFill>
                  <a:srgbClr val="1B3345"/>
                </a:solidFill>
              </a:defRPr>
            </a:lvl1pPr>
          </a:lstStyle>
          <a:p>
            <a:pPr>
              <a:defRPr b="1">
                <a:solidFill>
                  <a:srgbClr val="356A90"/>
                </a:solidFill>
              </a:defRPr>
            </a:pPr>
            <a:r>
              <a:rPr b="0">
                <a:solidFill>
                  <a:srgbClr val="1B3345"/>
                </a:solidFill>
              </a:rPr>
              <a:t>We're much weaker at predicting who'll bounce back to the hospital or ER later — that seems to depend more on what happens after discharge than anything visible at admission</a:t>
            </a:r>
          </a:p>
        </p:txBody>
      </p:sp>
      <p:sp>
        <p:nvSpPr>
          <p:cNvPr id="188" name="Summarizes and describes patterns in the data"/>
          <p:cNvSpPr txBox="1"/>
          <p:nvPr/>
        </p:nvSpPr>
        <p:spPr>
          <a:xfrm>
            <a:off x="569748" y="1813559"/>
            <a:ext cx="3496512" cy="269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defTabSz="457200">
              <a:defRPr sz="1200">
                <a:latin typeface="Times Roman"/>
                <a:ea typeface="Times Roman"/>
                <a:cs typeface="Times Roman"/>
                <a:sym typeface="Times Roman"/>
              </a:defRPr>
            </a:lvl1pPr>
          </a:lstStyle>
          <a:p>
            <a:pPr/>
            <a:r>
              <a:t>Summarizes and describes patterns in the data</a:t>
            </a:r>
          </a:p>
        </p:txBody>
      </p:sp>
      <p:sp>
        <p:nvSpPr>
          <p:cNvPr id="189" name="Cumulative readmission After Discharge"/>
          <p:cNvSpPr txBox="1"/>
          <p:nvPr/>
        </p:nvSpPr>
        <p:spPr>
          <a:xfrm>
            <a:off x="590857" y="2479413"/>
            <a:ext cx="2970261" cy="2565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defTabSz="457200">
              <a:defRPr sz="1000">
                <a:latin typeface="Times Roman"/>
                <a:ea typeface="Times Roman"/>
                <a:cs typeface="Times Roman"/>
                <a:sym typeface="Times Roman"/>
              </a:defRPr>
            </a:lvl1pPr>
          </a:lstStyle>
          <a:p>
            <a:pPr/>
            <a:r>
              <a:t>Cumulative readmission After Discharge</a:t>
            </a:r>
          </a:p>
        </p:txBody>
      </p:sp>
      <p:sp>
        <p:nvSpPr>
          <p:cNvPr id="190" name="Turning findings into action."/>
          <p:cNvSpPr txBox="1"/>
          <p:nvPr/>
        </p:nvSpPr>
        <p:spPr>
          <a:xfrm>
            <a:off x="4297680" y="1816099"/>
            <a:ext cx="3520440" cy="269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defTabSz="457200">
              <a:defRPr sz="1200">
                <a:latin typeface="Times Roman"/>
                <a:ea typeface="Times Roman"/>
                <a:cs typeface="Times Roman"/>
                <a:sym typeface="Times Roman"/>
              </a:defRPr>
            </a:lvl1pPr>
          </a:lstStyle>
          <a:p>
            <a:pPr/>
            <a:r>
              <a:t>Turning findings into action.</a:t>
            </a:r>
          </a:p>
        </p:txBody>
      </p:sp>
      <p:sp>
        <p:nvSpPr>
          <p:cNvPr id="191" name="Forecasting outcomes from what we know at admission."/>
          <p:cNvSpPr txBox="1"/>
          <p:nvPr/>
        </p:nvSpPr>
        <p:spPr>
          <a:xfrm>
            <a:off x="8027319" y="1828799"/>
            <a:ext cx="3540954" cy="2692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defTabSz="457200">
              <a:defRPr sz="1200">
                <a:latin typeface="Times Roman"/>
                <a:ea typeface="Times Roman"/>
                <a:cs typeface="Times Roman"/>
                <a:sym typeface="Times Roman"/>
              </a:defRPr>
            </a:lvl1pPr>
          </a:lstStyle>
          <a:p>
            <a:pPr/>
            <a:r>
              <a:t>Forecasting outcomes from what we know at admission.</a:t>
            </a:r>
          </a:p>
        </p:txBody>
      </p:sp>
      <p:sp>
        <p:nvSpPr>
          <p:cNvPr id="192" name="A meaningful group of high-risk patients weren't escalated to intensive care even though warning signs were already there"/>
          <p:cNvSpPr txBox="1"/>
          <p:nvPr/>
        </p:nvSpPr>
        <p:spPr>
          <a:xfrm>
            <a:off x="4315575" y="3972919"/>
            <a:ext cx="3520440" cy="54407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marL="110289" indent="-110289" defTabSz="457200">
              <a:buSzPct val="100000"/>
              <a:buChar char="•"/>
              <a:defRPr sz="1100"/>
            </a:lvl1pPr>
          </a:lstStyle>
          <a:p>
            <a:pPr/>
            <a:r>
              <a:t>A meaningful group of high-risk patients weren't escalated to intensive care even though warning signs were already there</a:t>
            </a:r>
          </a:p>
        </p:txBody>
      </p:sp>
      <p:sp>
        <p:nvSpPr>
          <p:cNvPr id="193" name="Text 37"/>
          <p:cNvSpPr txBox="1"/>
          <p:nvPr/>
        </p:nvSpPr>
        <p:spPr>
          <a:xfrm>
            <a:off x="4342891" y="5401564"/>
            <a:ext cx="3099817" cy="60503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marL="110289" indent="-110289">
              <a:buSzPct val="100000"/>
              <a:buChar char="•"/>
              <a:defRPr sz="1100">
                <a:solidFill>
                  <a:srgbClr val="1B3345"/>
                </a:solidFill>
              </a:defRPr>
            </a:lvl1pPr>
          </a:lstStyle>
          <a:p>
            <a:pPr/>
            <a:r>
              <a:t>A short checklist of warning signs at admission can flag most of the patients who are later at risk without needing to watch everyone equally closely</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7" name="Shape 0"/>
          <p:cNvSpPr/>
          <p:nvPr/>
        </p:nvSpPr>
        <p:spPr>
          <a:xfrm>
            <a:off x="548640" y="365759"/>
            <a:ext cx="1221639" cy="274321"/>
          </a:xfrm>
          <a:prstGeom prst="roundRect">
            <a:avLst>
              <a:gd name="adj" fmla="val 50000"/>
            </a:avLst>
          </a:prstGeom>
          <a:solidFill>
            <a:srgbClr val="356A90"/>
          </a:solidFill>
          <a:ln w="12700">
            <a:miter lim="400000"/>
          </a:ln>
        </p:spPr>
        <p:txBody>
          <a:bodyPr lIns="45719" rIns="45719"/>
          <a:lstStyle/>
          <a:p>
            <a:pPr/>
          </a:p>
        </p:txBody>
      </p:sp>
      <p:sp>
        <p:nvSpPr>
          <p:cNvPr id="198" name="Text 1"/>
          <p:cNvSpPr txBox="1"/>
          <p:nvPr/>
        </p:nvSpPr>
        <p:spPr>
          <a:xfrm>
            <a:off x="548640" y="435147"/>
            <a:ext cx="1221639" cy="1355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pc="200" sz="1000">
                <a:solidFill>
                  <a:srgbClr val="FFFFFF"/>
                </a:solidFill>
              </a:defRPr>
            </a:lvl1pPr>
          </a:lstStyle>
          <a:p>
            <a:pPr/>
            <a:r>
              <a:t>DASHBOARD</a:t>
            </a:r>
          </a:p>
        </p:txBody>
      </p:sp>
      <p:sp>
        <p:nvSpPr>
          <p:cNvPr id="199" name="Text 2"/>
          <p:cNvSpPr txBox="1"/>
          <p:nvPr/>
        </p:nvSpPr>
        <p:spPr>
          <a:xfrm>
            <a:off x="548639" y="731519"/>
            <a:ext cx="11094417" cy="40705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900">
                <a:solidFill>
                  <a:srgbClr val="24445E"/>
                </a:solidFill>
              </a:defRPr>
            </a:lvl1pPr>
          </a:lstStyle>
          <a:p>
            <a:pPr/>
            <a:r>
              <a:t>Interactive Dashboard: Descriptive, Prescriptive &amp; Predictive</a:t>
            </a:r>
          </a:p>
        </p:txBody>
      </p:sp>
      <p:sp>
        <p:nvSpPr>
          <p:cNvPr id="200" name="Text 3"/>
          <p:cNvSpPr txBox="1"/>
          <p:nvPr/>
        </p:nvSpPr>
        <p:spPr>
          <a:xfrm>
            <a:off x="548640" y="6524752"/>
            <a:ext cx="64008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666666"/>
                </a:solidFill>
              </a:defRPr>
            </a:lvl1pPr>
          </a:lstStyle>
          <a:p>
            <a:pPr/>
            <a:r>
              <a:t>Team 4  |  The Zen of Five</a:t>
            </a:r>
          </a:p>
        </p:txBody>
      </p:sp>
      <p:sp>
        <p:nvSpPr>
          <p:cNvPr id="201" name="Text 4"/>
          <p:cNvSpPr txBox="1"/>
          <p:nvPr/>
        </p:nvSpPr>
        <p:spPr>
          <a:xfrm>
            <a:off x="11094415" y="6524752"/>
            <a:ext cx="54864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900">
                <a:solidFill>
                  <a:srgbClr val="666666"/>
                </a:solidFill>
              </a:defRPr>
            </a:lvl1pPr>
          </a:lstStyle>
          <a:p>
            <a:pPr/>
            <a:r>
              <a:t>4</a:t>
            </a:r>
          </a:p>
        </p:txBody>
      </p:sp>
      <p:sp>
        <p:nvSpPr>
          <p:cNvPr id="202" name="Shape 6"/>
          <p:cNvSpPr/>
          <p:nvPr/>
        </p:nvSpPr>
        <p:spPr>
          <a:xfrm>
            <a:off x="548792" y="1554480"/>
            <a:ext cx="11094416" cy="4554364"/>
          </a:xfrm>
          <a:prstGeom prst="roundRect">
            <a:avLst>
              <a:gd name="adj" fmla="val 2008"/>
            </a:avLst>
          </a:prstGeom>
          <a:solidFill>
            <a:srgbClr val="24445E"/>
          </a:solidFill>
          <a:ln w="12700">
            <a:miter lim="400000"/>
          </a:ln>
          <a:effectLst>
            <a:outerShdw sx="100000" sy="100000" kx="0" ky="0" algn="b" rotWithShape="0" blurRad="76200" dist="25400" dir="5400000">
              <a:srgbClr val="000000">
                <a:alpha val="12000"/>
              </a:srgbClr>
            </a:outerShdw>
          </a:effectLst>
        </p:spPr>
        <p:txBody>
          <a:bodyPr lIns="45719" rIns="45719"/>
          <a:lstStyle/>
          <a:p>
            <a:pPr/>
          </a:p>
        </p:txBody>
      </p:sp>
      <p:sp>
        <p:nvSpPr>
          <p:cNvPr id="203" name="Shape 7"/>
          <p:cNvSpPr/>
          <p:nvPr/>
        </p:nvSpPr>
        <p:spPr>
          <a:xfrm>
            <a:off x="749808" y="2481072"/>
            <a:ext cx="502921" cy="502921"/>
          </a:xfrm>
          <a:prstGeom prst="ellipse">
            <a:avLst/>
          </a:prstGeom>
          <a:solidFill>
            <a:srgbClr val="5B93BA"/>
          </a:solidFill>
          <a:ln w="12700">
            <a:miter lim="400000"/>
          </a:ln>
        </p:spPr>
        <p:txBody>
          <a:bodyPr lIns="45719" rIns="45719"/>
          <a:lstStyle/>
          <a:p>
            <a:pPr/>
          </a:p>
        </p:txBody>
      </p:sp>
      <p:pic>
        <p:nvPicPr>
          <p:cNvPr id="204" name="Image 0" descr="Image 0"/>
          <p:cNvPicPr>
            <a:picLocks noChangeAspect="1"/>
          </p:cNvPicPr>
          <p:nvPr/>
        </p:nvPicPr>
        <p:blipFill>
          <a:blip r:embed="rId3">
            <a:extLst/>
          </a:blip>
          <a:stretch>
            <a:fillRect/>
          </a:stretch>
        </p:blipFill>
        <p:spPr>
          <a:xfrm>
            <a:off x="870508" y="2601772"/>
            <a:ext cx="261519" cy="261519"/>
          </a:xfrm>
          <a:prstGeom prst="rect">
            <a:avLst/>
          </a:prstGeom>
          <a:ln w="12700">
            <a:miter lim="400000"/>
          </a:ln>
        </p:spPr>
      </p:pic>
      <p:sp>
        <p:nvSpPr>
          <p:cNvPr id="205" name="Text 8"/>
          <p:cNvSpPr txBox="1"/>
          <p:nvPr/>
        </p:nvSpPr>
        <p:spPr>
          <a:xfrm>
            <a:off x="1417319" y="2508132"/>
            <a:ext cx="6035042" cy="41933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D8E8F4"/>
                </a:solidFill>
              </a:defRPr>
            </a:lvl1pPr>
          </a:lstStyle>
          <a:p>
            <a:pPr/>
            <a:r>
              <a:t>Live dashboard  (running locally)</a:t>
            </a:r>
          </a:p>
        </p:txBody>
      </p:sp>
      <p:sp>
        <p:nvSpPr>
          <p:cNvPr id="206" name="Text 9"/>
          <p:cNvSpPr txBox="1"/>
          <p:nvPr/>
        </p:nvSpPr>
        <p:spPr>
          <a:xfrm>
            <a:off x="1417319" y="2980964"/>
            <a:ext cx="6035042" cy="53031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800" u="sng">
                <a:solidFill>
                  <a:srgbClr val="0563C1"/>
                </a:solidFill>
                <a:uFill>
                  <a:solidFill>
                    <a:srgbClr val="0563C1"/>
                  </a:solidFill>
                </a:uFill>
                <a:hlinkClick r:id="rId4" invalidUrl="" action="" tgtFrame="" tooltip="" history="1" highlightClick="0" endSnd="0"/>
              </a:defRPr>
            </a:lvl1pPr>
          </a:lstStyle>
          <a:p>
            <a:pPr>
              <a:defRPr>
                <a:solidFill>
                  <a:srgbClr val="FFFFFF"/>
                </a:solidFill>
                <a:uFillTx/>
              </a:defRPr>
            </a:pPr>
            <a:r>
              <a:rPr>
                <a:solidFill>
                  <a:srgbClr val="0563C1"/>
                </a:solidFill>
                <a:uFill>
                  <a:solidFill>
                    <a:srgbClr val="0563C1"/>
                  </a:solidFill>
                </a:uFill>
                <a:hlinkClick r:id="rId4" invalidUrl="" action="" tgtFrame="" tooltip="" history="1" highlightClick="0" endSnd="0"/>
              </a:rPr>
              <a:t>http://localhost:8502/</a:t>
            </a:r>
          </a:p>
        </p:txBody>
      </p:sp>
      <p:sp>
        <p:nvSpPr>
          <p:cNvPr id="207" name="Shape 12"/>
          <p:cNvSpPr/>
          <p:nvPr/>
        </p:nvSpPr>
        <p:spPr>
          <a:xfrm>
            <a:off x="762000" y="4088892"/>
            <a:ext cx="502921" cy="502921"/>
          </a:xfrm>
          <a:prstGeom prst="ellipse">
            <a:avLst/>
          </a:prstGeom>
          <a:solidFill>
            <a:srgbClr val="356A90"/>
          </a:solidFill>
          <a:ln w="12700">
            <a:miter lim="400000"/>
          </a:ln>
        </p:spPr>
        <p:txBody>
          <a:bodyPr lIns="45719" rIns="45719"/>
          <a:lstStyle/>
          <a:p>
            <a:pPr/>
          </a:p>
        </p:txBody>
      </p:sp>
      <p:pic>
        <p:nvPicPr>
          <p:cNvPr id="208" name="Image 1" descr="Image 1"/>
          <p:cNvPicPr>
            <a:picLocks noChangeAspect="1"/>
          </p:cNvPicPr>
          <p:nvPr/>
        </p:nvPicPr>
        <p:blipFill>
          <a:blip r:embed="rId5">
            <a:extLst/>
          </a:blip>
          <a:stretch>
            <a:fillRect/>
          </a:stretch>
        </p:blipFill>
        <p:spPr>
          <a:xfrm>
            <a:off x="882701" y="4184193"/>
            <a:ext cx="261519" cy="261519"/>
          </a:xfrm>
          <a:prstGeom prst="rect">
            <a:avLst/>
          </a:prstGeom>
          <a:ln w="12700">
            <a:miter lim="400000"/>
          </a:ln>
        </p:spPr>
      </p:pic>
      <p:sp>
        <p:nvSpPr>
          <p:cNvPr id="209" name="Text 13"/>
          <p:cNvSpPr txBox="1"/>
          <p:nvPr/>
        </p:nvSpPr>
        <p:spPr>
          <a:xfrm>
            <a:off x="1503680" y="4209679"/>
            <a:ext cx="2834641" cy="27150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900">
                <a:solidFill>
                  <a:srgbClr val="D8E8F4"/>
                </a:solidFill>
              </a:defRPr>
            </a:lvl1pPr>
          </a:lstStyle>
          <a:p>
            <a:pPr/>
            <a:r>
              <a:t>Run locally</a:t>
            </a:r>
          </a:p>
        </p:txBody>
      </p:sp>
      <p:sp>
        <p:nvSpPr>
          <p:cNvPr id="210" name="Text 14"/>
          <p:cNvSpPr txBox="1"/>
          <p:nvPr/>
        </p:nvSpPr>
        <p:spPr>
          <a:xfrm>
            <a:off x="1490063" y="4627346"/>
            <a:ext cx="5502119" cy="30485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ts val="1100"/>
              </a:lnSpc>
              <a:defRPr sz="800">
                <a:solidFill>
                  <a:srgbClr val="FFFFFF"/>
                </a:solidFill>
                <a:latin typeface="Courier New"/>
                <a:ea typeface="Courier New"/>
                <a:cs typeface="Courier New"/>
                <a:sym typeface="Courier New"/>
              </a:defRPr>
            </a:pPr>
            <a:r>
              <a:rPr sz="1400"/>
              <a:t>streamlit run Team4_The_Zen_Of_Five_05_Dashboard.py</a:t>
            </a:r>
            <a:endParaRPr sz="1400"/>
          </a:p>
          <a:p>
            <a:pPr>
              <a:lnSpc>
                <a:spcPts val="1100"/>
              </a:lnSpc>
              <a:defRPr sz="1400">
                <a:solidFill>
                  <a:srgbClr val="FFFFFF"/>
                </a:solidFill>
                <a:latin typeface="Courier New"/>
                <a:ea typeface="Courier New"/>
                <a:cs typeface="Courier New"/>
                <a:sym typeface="Courier New"/>
              </a:defRPr>
            </a:pPr>
            <a:r>
              <a:t>--server.port 8502</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4" name="Shape 0"/>
          <p:cNvSpPr/>
          <p:nvPr/>
        </p:nvSpPr>
        <p:spPr>
          <a:xfrm>
            <a:off x="548640" y="365759"/>
            <a:ext cx="1602029" cy="274321"/>
          </a:xfrm>
          <a:prstGeom prst="roundRect">
            <a:avLst>
              <a:gd name="adj" fmla="val 50000"/>
            </a:avLst>
          </a:prstGeom>
          <a:solidFill>
            <a:srgbClr val="356A90"/>
          </a:solidFill>
          <a:ln w="12700">
            <a:miter lim="400000"/>
          </a:ln>
        </p:spPr>
        <p:txBody>
          <a:bodyPr lIns="45719" rIns="45719"/>
          <a:lstStyle/>
          <a:p>
            <a:pPr/>
          </a:p>
        </p:txBody>
      </p:sp>
      <p:sp>
        <p:nvSpPr>
          <p:cNvPr id="215" name="Text 1"/>
          <p:cNvSpPr txBox="1"/>
          <p:nvPr/>
        </p:nvSpPr>
        <p:spPr>
          <a:xfrm>
            <a:off x="548639" y="435147"/>
            <a:ext cx="1602031" cy="1355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pc="200" sz="1000">
                <a:solidFill>
                  <a:srgbClr val="FFFFFF"/>
                </a:solidFill>
              </a:defRPr>
            </a:lvl1pPr>
          </a:lstStyle>
          <a:p>
            <a:pPr/>
            <a:r>
              <a:t>KEY TAKEAWAYS</a:t>
            </a:r>
          </a:p>
        </p:txBody>
      </p:sp>
      <p:sp>
        <p:nvSpPr>
          <p:cNvPr id="216" name="Text 2"/>
          <p:cNvSpPr txBox="1"/>
          <p:nvPr/>
        </p:nvSpPr>
        <p:spPr>
          <a:xfrm>
            <a:off x="548639" y="731519"/>
            <a:ext cx="11094417" cy="40705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900">
                <a:solidFill>
                  <a:srgbClr val="24445E"/>
                </a:solidFill>
              </a:defRPr>
            </a:lvl1pPr>
          </a:lstStyle>
          <a:p>
            <a:pPr/>
            <a:r>
              <a:t>Five things to remember</a:t>
            </a:r>
          </a:p>
        </p:txBody>
      </p:sp>
      <p:sp>
        <p:nvSpPr>
          <p:cNvPr id="217" name="Text 3"/>
          <p:cNvSpPr txBox="1"/>
          <p:nvPr/>
        </p:nvSpPr>
        <p:spPr>
          <a:xfrm>
            <a:off x="548640" y="6524752"/>
            <a:ext cx="64008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666666"/>
                </a:solidFill>
              </a:defRPr>
            </a:lvl1pPr>
          </a:lstStyle>
          <a:p>
            <a:pPr/>
            <a:r>
              <a:t>Team 4  |  The Zen of Five  </a:t>
            </a:r>
          </a:p>
        </p:txBody>
      </p:sp>
      <p:sp>
        <p:nvSpPr>
          <p:cNvPr id="218" name="Text 4"/>
          <p:cNvSpPr txBox="1"/>
          <p:nvPr/>
        </p:nvSpPr>
        <p:spPr>
          <a:xfrm>
            <a:off x="11094415" y="6524752"/>
            <a:ext cx="54864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900">
                <a:solidFill>
                  <a:srgbClr val="666666"/>
                </a:solidFill>
              </a:defRPr>
            </a:lvl1pPr>
          </a:lstStyle>
          <a:p>
            <a:pPr/>
            <a:r>
              <a:t>5</a:t>
            </a:r>
          </a:p>
        </p:txBody>
      </p:sp>
      <p:sp>
        <p:nvSpPr>
          <p:cNvPr id="219" name="Shape 5"/>
          <p:cNvSpPr/>
          <p:nvPr/>
        </p:nvSpPr>
        <p:spPr>
          <a:xfrm>
            <a:off x="548640" y="1783079"/>
            <a:ext cx="11094416" cy="768097"/>
          </a:xfrm>
          <a:prstGeom prst="roundRect">
            <a:avLst>
              <a:gd name="adj" fmla="val 11905"/>
            </a:avLst>
          </a:prstGeom>
          <a:solidFill>
            <a:srgbClr val="EBF3F9"/>
          </a:solidFill>
          <a:ln w="12700">
            <a:miter lim="400000"/>
          </a:ln>
        </p:spPr>
        <p:txBody>
          <a:bodyPr lIns="45719" rIns="45719"/>
          <a:lstStyle/>
          <a:p>
            <a:pPr/>
          </a:p>
        </p:txBody>
      </p:sp>
      <p:sp>
        <p:nvSpPr>
          <p:cNvPr id="220" name="Shape 6"/>
          <p:cNvSpPr/>
          <p:nvPr/>
        </p:nvSpPr>
        <p:spPr>
          <a:xfrm>
            <a:off x="749808" y="1911095"/>
            <a:ext cx="512065" cy="512065"/>
          </a:xfrm>
          <a:prstGeom prst="ellipse">
            <a:avLst/>
          </a:prstGeom>
          <a:solidFill>
            <a:srgbClr val="356A90"/>
          </a:solidFill>
          <a:ln w="12700">
            <a:miter lim="400000"/>
          </a:ln>
        </p:spPr>
        <p:txBody>
          <a:bodyPr lIns="45719" rIns="45719"/>
          <a:lstStyle/>
          <a:p>
            <a:pPr/>
          </a:p>
        </p:txBody>
      </p:sp>
      <p:pic>
        <p:nvPicPr>
          <p:cNvPr id="221" name="Image 0" descr="Image 0"/>
          <p:cNvPicPr>
            <a:picLocks noChangeAspect="1"/>
          </p:cNvPicPr>
          <p:nvPr/>
        </p:nvPicPr>
        <p:blipFill>
          <a:blip r:embed="rId3">
            <a:extLst/>
          </a:blip>
          <a:stretch>
            <a:fillRect/>
          </a:stretch>
        </p:blipFill>
        <p:spPr>
          <a:xfrm>
            <a:off x="872703" y="2033990"/>
            <a:ext cx="266274" cy="266274"/>
          </a:xfrm>
          <a:prstGeom prst="rect">
            <a:avLst/>
          </a:prstGeom>
          <a:ln w="12700">
            <a:miter lim="400000"/>
          </a:ln>
        </p:spPr>
      </p:pic>
      <p:sp>
        <p:nvSpPr>
          <p:cNvPr id="222" name="Text 7"/>
          <p:cNvSpPr txBox="1"/>
          <p:nvPr/>
        </p:nvSpPr>
        <p:spPr>
          <a:xfrm>
            <a:off x="1463039" y="2062294"/>
            <a:ext cx="9951417" cy="2096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solidFill>
                  <a:srgbClr val="2F5C7E"/>
                </a:solidFill>
              </a:defRPr>
            </a:lvl1pPr>
          </a:lstStyle>
          <a:p>
            <a:pPr/>
            <a:r>
              <a:t>A sick, elderly cohort</a:t>
            </a:r>
          </a:p>
        </p:txBody>
      </p:sp>
      <p:sp>
        <p:nvSpPr>
          <p:cNvPr id="223" name="Shape 8"/>
          <p:cNvSpPr/>
          <p:nvPr/>
        </p:nvSpPr>
        <p:spPr>
          <a:xfrm>
            <a:off x="548640" y="2651760"/>
            <a:ext cx="11094416" cy="768097"/>
          </a:xfrm>
          <a:prstGeom prst="roundRect">
            <a:avLst>
              <a:gd name="adj" fmla="val 11905"/>
            </a:avLst>
          </a:prstGeom>
          <a:solidFill>
            <a:srgbClr val="EBF3F9"/>
          </a:solidFill>
          <a:ln w="12700">
            <a:miter lim="400000"/>
          </a:ln>
        </p:spPr>
        <p:txBody>
          <a:bodyPr lIns="45719" rIns="45719"/>
          <a:lstStyle/>
          <a:p>
            <a:pPr/>
          </a:p>
        </p:txBody>
      </p:sp>
      <p:sp>
        <p:nvSpPr>
          <p:cNvPr id="224" name="Shape 9"/>
          <p:cNvSpPr/>
          <p:nvPr/>
        </p:nvSpPr>
        <p:spPr>
          <a:xfrm>
            <a:off x="749808" y="2779776"/>
            <a:ext cx="512065" cy="512065"/>
          </a:xfrm>
          <a:prstGeom prst="ellipse">
            <a:avLst/>
          </a:prstGeom>
          <a:solidFill>
            <a:srgbClr val="356A90"/>
          </a:solidFill>
          <a:ln w="12700">
            <a:miter lim="400000"/>
          </a:ln>
        </p:spPr>
        <p:txBody>
          <a:bodyPr lIns="45719" rIns="45719"/>
          <a:lstStyle/>
          <a:p>
            <a:pPr/>
          </a:p>
        </p:txBody>
      </p:sp>
      <p:pic>
        <p:nvPicPr>
          <p:cNvPr id="225" name="Image 1" descr="Image 1"/>
          <p:cNvPicPr>
            <a:picLocks noChangeAspect="1"/>
          </p:cNvPicPr>
          <p:nvPr/>
        </p:nvPicPr>
        <p:blipFill>
          <a:blip r:embed="rId4">
            <a:extLst/>
          </a:blip>
          <a:stretch>
            <a:fillRect/>
          </a:stretch>
        </p:blipFill>
        <p:spPr>
          <a:xfrm>
            <a:off x="872703" y="2902671"/>
            <a:ext cx="266274" cy="266274"/>
          </a:xfrm>
          <a:prstGeom prst="rect">
            <a:avLst/>
          </a:prstGeom>
          <a:ln w="12700">
            <a:miter lim="400000"/>
          </a:ln>
        </p:spPr>
      </p:pic>
      <p:sp>
        <p:nvSpPr>
          <p:cNvPr id="226" name="Text 10"/>
          <p:cNvSpPr txBox="1"/>
          <p:nvPr/>
        </p:nvSpPr>
        <p:spPr>
          <a:xfrm>
            <a:off x="1463039" y="2930974"/>
            <a:ext cx="9951417" cy="2096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solidFill>
                  <a:srgbClr val="2F5C7E"/>
                </a:solidFill>
              </a:defRPr>
            </a:lvl1pPr>
          </a:lstStyle>
          <a:p>
            <a:pPr/>
            <a:r>
              <a:t>Treatment gaps are the quickest win</a:t>
            </a:r>
          </a:p>
        </p:txBody>
      </p:sp>
      <p:sp>
        <p:nvSpPr>
          <p:cNvPr id="227" name="Shape 11"/>
          <p:cNvSpPr/>
          <p:nvPr/>
        </p:nvSpPr>
        <p:spPr>
          <a:xfrm>
            <a:off x="548640" y="3520440"/>
            <a:ext cx="11094416" cy="768097"/>
          </a:xfrm>
          <a:prstGeom prst="roundRect">
            <a:avLst>
              <a:gd name="adj" fmla="val 11905"/>
            </a:avLst>
          </a:prstGeom>
          <a:solidFill>
            <a:srgbClr val="EBF3F9"/>
          </a:solidFill>
          <a:ln w="12700">
            <a:miter lim="400000"/>
          </a:ln>
        </p:spPr>
        <p:txBody>
          <a:bodyPr lIns="45719" rIns="45719"/>
          <a:lstStyle/>
          <a:p>
            <a:pPr/>
          </a:p>
        </p:txBody>
      </p:sp>
      <p:sp>
        <p:nvSpPr>
          <p:cNvPr id="228" name="Shape 12"/>
          <p:cNvSpPr/>
          <p:nvPr/>
        </p:nvSpPr>
        <p:spPr>
          <a:xfrm>
            <a:off x="749808" y="3648455"/>
            <a:ext cx="512065" cy="512065"/>
          </a:xfrm>
          <a:prstGeom prst="ellipse">
            <a:avLst/>
          </a:prstGeom>
          <a:solidFill>
            <a:srgbClr val="356A90"/>
          </a:solidFill>
          <a:ln w="12700">
            <a:miter lim="400000"/>
          </a:ln>
        </p:spPr>
        <p:txBody>
          <a:bodyPr lIns="45719" rIns="45719"/>
          <a:lstStyle/>
          <a:p>
            <a:pPr/>
          </a:p>
        </p:txBody>
      </p:sp>
      <p:pic>
        <p:nvPicPr>
          <p:cNvPr id="229" name="Image 2" descr="Image 2"/>
          <p:cNvPicPr>
            <a:picLocks noChangeAspect="1"/>
          </p:cNvPicPr>
          <p:nvPr/>
        </p:nvPicPr>
        <p:blipFill>
          <a:blip r:embed="rId5">
            <a:extLst/>
          </a:blip>
          <a:stretch>
            <a:fillRect/>
          </a:stretch>
        </p:blipFill>
        <p:spPr>
          <a:xfrm>
            <a:off x="872703" y="3771350"/>
            <a:ext cx="266274" cy="266274"/>
          </a:xfrm>
          <a:prstGeom prst="rect">
            <a:avLst/>
          </a:prstGeom>
          <a:ln w="12700">
            <a:miter lim="400000"/>
          </a:ln>
        </p:spPr>
      </p:pic>
      <p:sp>
        <p:nvSpPr>
          <p:cNvPr id="230" name="Text 13"/>
          <p:cNvSpPr txBox="1"/>
          <p:nvPr/>
        </p:nvSpPr>
        <p:spPr>
          <a:xfrm>
            <a:off x="1463039" y="3799654"/>
            <a:ext cx="9951417" cy="2096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solidFill>
                  <a:srgbClr val="2F5C7E"/>
                </a:solidFill>
              </a:defRPr>
            </a:lvl1pPr>
          </a:lstStyle>
          <a:p>
            <a:pPr/>
            <a:r>
              <a:t>The biggest fixable gap is missed escalation</a:t>
            </a:r>
          </a:p>
        </p:txBody>
      </p:sp>
      <p:sp>
        <p:nvSpPr>
          <p:cNvPr id="231" name="Shape 14"/>
          <p:cNvSpPr/>
          <p:nvPr/>
        </p:nvSpPr>
        <p:spPr>
          <a:xfrm>
            <a:off x="548640" y="4389120"/>
            <a:ext cx="11094416" cy="768097"/>
          </a:xfrm>
          <a:prstGeom prst="roundRect">
            <a:avLst>
              <a:gd name="adj" fmla="val 11905"/>
            </a:avLst>
          </a:prstGeom>
          <a:solidFill>
            <a:srgbClr val="356A90"/>
          </a:solidFill>
          <a:ln w="12700">
            <a:miter lim="400000"/>
          </a:ln>
        </p:spPr>
        <p:txBody>
          <a:bodyPr lIns="45719" rIns="45719"/>
          <a:lstStyle/>
          <a:p>
            <a:pPr/>
          </a:p>
        </p:txBody>
      </p:sp>
      <p:sp>
        <p:nvSpPr>
          <p:cNvPr id="232" name="Shape 15"/>
          <p:cNvSpPr/>
          <p:nvPr/>
        </p:nvSpPr>
        <p:spPr>
          <a:xfrm>
            <a:off x="749808" y="4517135"/>
            <a:ext cx="512065" cy="512065"/>
          </a:xfrm>
          <a:prstGeom prst="ellipse">
            <a:avLst/>
          </a:prstGeom>
          <a:solidFill>
            <a:srgbClr val="5B93BA"/>
          </a:solidFill>
          <a:ln w="12700">
            <a:miter lim="400000"/>
          </a:ln>
        </p:spPr>
        <p:txBody>
          <a:bodyPr lIns="45719" rIns="45719"/>
          <a:lstStyle/>
          <a:p>
            <a:pPr/>
          </a:p>
        </p:txBody>
      </p:sp>
      <p:pic>
        <p:nvPicPr>
          <p:cNvPr id="233" name="Image 3" descr="Image 3"/>
          <p:cNvPicPr>
            <a:picLocks noChangeAspect="1"/>
          </p:cNvPicPr>
          <p:nvPr/>
        </p:nvPicPr>
        <p:blipFill>
          <a:blip r:embed="rId6">
            <a:extLst/>
          </a:blip>
          <a:stretch>
            <a:fillRect/>
          </a:stretch>
        </p:blipFill>
        <p:spPr>
          <a:xfrm>
            <a:off x="872703" y="4640031"/>
            <a:ext cx="266274" cy="266274"/>
          </a:xfrm>
          <a:prstGeom prst="rect">
            <a:avLst/>
          </a:prstGeom>
          <a:ln w="12700">
            <a:miter lim="400000"/>
          </a:ln>
        </p:spPr>
      </p:pic>
      <p:sp>
        <p:nvSpPr>
          <p:cNvPr id="234" name="Text 16"/>
          <p:cNvSpPr txBox="1"/>
          <p:nvPr/>
        </p:nvSpPr>
        <p:spPr>
          <a:xfrm>
            <a:off x="1463039" y="4668334"/>
            <a:ext cx="9951417" cy="2096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solidFill>
                  <a:srgbClr val="FFFFFF"/>
                </a:solidFill>
              </a:defRPr>
            </a:lvl1pPr>
          </a:lstStyle>
          <a:p>
            <a:pPr/>
            <a:r>
              <a:t>Target, do not blanket.</a:t>
            </a:r>
          </a:p>
        </p:txBody>
      </p:sp>
      <p:sp>
        <p:nvSpPr>
          <p:cNvPr id="235" name="Shape 17"/>
          <p:cNvSpPr/>
          <p:nvPr/>
        </p:nvSpPr>
        <p:spPr>
          <a:xfrm>
            <a:off x="548640" y="5257800"/>
            <a:ext cx="11094416" cy="768096"/>
          </a:xfrm>
          <a:prstGeom prst="roundRect">
            <a:avLst>
              <a:gd name="adj" fmla="val 11905"/>
            </a:avLst>
          </a:prstGeom>
          <a:solidFill>
            <a:srgbClr val="EBF3F9"/>
          </a:solidFill>
          <a:ln w="12700">
            <a:miter lim="400000"/>
          </a:ln>
        </p:spPr>
        <p:txBody>
          <a:bodyPr lIns="45719" rIns="45719"/>
          <a:lstStyle/>
          <a:p>
            <a:pPr/>
          </a:p>
        </p:txBody>
      </p:sp>
      <p:sp>
        <p:nvSpPr>
          <p:cNvPr id="236" name="Shape 18"/>
          <p:cNvSpPr/>
          <p:nvPr/>
        </p:nvSpPr>
        <p:spPr>
          <a:xfrm>
            <a:off x="749808" y="5385815"/>
            <a:ext cx="512065" cy="512065"/>
          </a:xfrm>
          <a:prstGeom prst="ellipse">
            <a:avLst/>
          </a:prstGeom>
          <a:solidFill>
            <a:srgbClr val="356A90"/>
          </a:solidFill>
          <a:ln w="12700">
            <a:miter lim="400000"/>
          </a:ln>
        </p:spPr>
        <p:txBody>
          <a:bodyPr lIns="45719" rIns="45719"/>
          <a:lstStyle/>
          <a:p>
            <a:pPr/>
          </a:p>
        </p:txBody>
      </p:sp>
      <p:pic>
        <p:nvPicPr>
          <p:cNvPr id="237" name="Image 4" descr="Image 4"/>
          <p:cNvPicPr>
            <a:picLocks noChangeAspect="1"/>
          </p:cNvPicPr>
          <p:nvPr/>
        </p:nvPicPr>
        <p:blipFill>
          <a:blip r:embed="rId7">
            <a:extLst/>
          </a:blip>
          <a:stretch>
            <a:fillRect/>
          </a:stretch>
        </p:blipFill>
        <p:spPr>
          <a:xfrm>
            <a:off x="872703" y="5508711"/>
            <a:ext cx="266274" cy="266274"/>
          </a:xfrm>
          <a:prstGeom prst="rect">
            <a:avLst/>
          </a:prstGeom>
          <a:ln w="12700">
            <a:miter lim="400000"/>
          </a:ln>
        </p:spPr>
      </p:pic>
      <p:sp>
        <p:nvSpPr>
          <p:cNvPr id="238" name="Text 19"/>
          <p:cNvSpPr txBox="1"/>
          <p:nvPr/>
        </p:nvSpPr>
        <p:spPr>
          <a:xfrm>
            <a:off x="1463039" y="5537013"/>
            <a:ext cx="9951417" cy="2096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solidFill>
                  <a:srgbClr val="2F5C7E"/>
                </a:solidFill>
              </a:defRPr>
            </a:lvl1pPr>
          </a:lstStyle>
          <a:p>
            <a:pPr/>
            <a:r>
              <a:t>A short checklist beats treating everyone the same.</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24445E"/>
        </a:solidFill>
      </p:bgPr>
    </p:bg>
    <p:spTree>
      <p:nvGrpSpPr>
        <p:cNvPr id="1" name=""/>
        <p:cNvGrpSpPr/>
        <p:nvPr/>
      </p:nvGrpSpPr>
      <p:grpSpPr>
        <a:xfrm>
          <a:off x="0" y="0"/>
          <a:ext cx="0" cy="0"/>
          <a:chOff x="0" y="0"/>
          <a:chExt cx="0" cy="0"/>
        </a:xfrm>
      </p:grpSpPr>
      <p:sp>
        <p:nvSpPr>
          <p:cNvPr id="242" name="Text 0"/>
          <p:cNvSpPr txBox="1"/>
          <p:nvPr/>
        </p:nvSpPr>
        <p:spPr>
          <a:xfrm>
            <a:off x="548640" y="1711960"/>
            <a:ext cx="7315201" cy="1016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6600">
                <a:solidFill>
                  <a:srgbClr val="FFFFFF"/>
                </a:solidFill>
                <a:latin typeface="Times Roman"/>
                <a:ea typeface="Times Roman"/>
                <a:cs typeface="Times Roman"/>
                <a:sym typeface="Times Roman"/>
              </a:defRPr>
            </a:lvl1pPr>
          </a:lstStyle>
          <a:p>
            <a:pPr/>
            <a:r>
              <a:t>Thank you</a:t>
            </a:r>
          </a:p>
        </p:txBody>
      </p:sp>
      <p:sp>
        <p:nvSpPr>
          <p:cNvPr id="243" name="Text 1"/>
          <p:cNvSpPr txBox="1"/>
          <p:nvPr/>
        </p:nvSpPr>
        <p:spPr>
          <a:xfrm>
            <a:off x="548639" y="3149600"/>
            <a:ext cx="7315201" cy="72621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i="1" sz="2500">
                <a:solidFill>
                  <a:srgbClr val="D8E8F4"/>
                </a:solidFill>
              </a:defRPr>
            </a:lvl1pPr>
          </a:lstStyle>
          <a:p>
            <a:pPr/>
            <a:r>
              <a:t>We don't need to follow up with everyone. We need to follow up with the right patients.</a:t>
            </a:r>
          </a:p>
        </p:txBody>
      </p:sp>
      <p:sp>
        <p:nvSpPr>
          <p:cNvPr id="244" name="Text 2"/>
          <p:cNvSpPr txBox="1"/>
          <p:nvPr/>
        </p:nvSpPr>
        <p:spPr>
          <a:xfrm>
            <a:off x="548639" y="5699689"/>
            <a:ext cx="6949442"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solidFill>
                  <a:srgbClr val="FFFFFF"/>
                </a:solidFill>
              </a:defRPr>
            </a:lvl1pPr>
          </a:lstStyle>
          <a:p>
            <a:pPr/>
            <a:r>
              <a:t>Team 4  |  The Zen of Five</a:t>
            </a:r>
          </a:p>
        </p:txBody>
      </p:sp>
      <p:sp>
        <p:nvSpPr>
          <p:cNvPr id="245" name="Shape 5"/>
          <p:cNvSpPr/>
          <p:nvPr/>
        </p:nvSpPr>
        <p:spPr>
          <a:xfrm>
            <a:off x="8138159" y="1554480"/>
            <a:ext cx="3657601" cy="3657601"/>
          </a:xfrm>
          <a:prstGeom prst="ellipse">
            <a:avLst/>
          </a:prstGeom>
          <a:solidFill>
            <a:srgbClr val="2F5C7E"/>
          </a:solidFill>
          <a:ln w="12700">
            <a:miter lim="400000"/>
          </a:ln>
        </p:spPr>
        <p:txBody>
          <a:bodyPr lIns="45719" rIns="45719"/>
          <a:lstStyle/>
          <a:p>
            <a:pPr/>
          </a:p>
        </p:txBody>
      </p:sp>
      <p:sp>
        <p:nvSpPr>
          <p:cNvPr id="246" name="Shape 6"/>
          <p:cNvSpPr/>
          <p:nvPr/>
        </p:nvSpPr>
        <p:spPr>
          <a:xfrm>
            <a:off x="8503919" y="1920239"/>
            <a:ext cx="2926081" cy="2926082"/>
          </a:xfrm>
          <a:prstGeom prst="ellipse">
            <a:avLst/>
          </a:prstGeom>
          <a:solidFill>
            <a:srgbClr val="356A90"/>
          </a:solidFill>
          <a:ln w="12700">
            <a:miter lim="400000"/>
          </a:ln>
        </p:spPr>
        <p:txBody>
          <a:bodyPr lIns="45719" rIns="45719"/>
          <a:lstStyle/>
          <a:p>
            <a:pPr/>
          </a:p>
        </p:txBody>
      </p:sp>
      <p:pic>
        <p:nvPicPr>
          <p:cNvPr id="247" name="Image 0" descr="Image 0"/>
          <p:cNvPicPr>
            <a:picLocks noChangeAspect="1"/>
          </p:cNvPicPr>
          <p:nvPr/>
        </p:nvPicPr>
        <p:blipFill>
          <a:blip r:embed="rId3">
            <a:extLst/>
          </a:blip>
          <a:stretch>
            <a:fillRect/>
          </a:stretch>
        </p:blipFill>
        <p:spPr>
          <a:xfrm>
            <a:off x="9052559" y="2468879"/>
            <a:ext cx="1828801" cy="1828801"/>
          </a:xfrm>
          <a:prstGeom prst="rect">
            <a:avLst/>
          </a:prstGeom>
          <a:ln w="12700">
            <a:miter lim="400000"/>
          </a:ln>
        </p:spPr>
      </p:pic>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Arial"/>
        <a:ea typeface="Arial"/>
        <a:cs typeface="Arial"/>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Arial"/>
        <a:ea typeface="Arial"/>
        <a:cs typeface="Arial"/>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